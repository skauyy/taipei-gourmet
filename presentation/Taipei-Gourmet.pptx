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資料來源：本專案 app.js 的 SHOPS / ZONES 靜態資料快照，共 88 筆。人均為指南估算（NT$），不是單品現價；營業時間及推薦指數並非即時核實資料或即時 Google 評分。出發前請向店家確認地址、營業安排及價格。所有照片只作飲食／街景示意，不能據此辨認所列店家。</a:t>
            </a:r>
          </a:p>
          <a:p/>
          <a:p>
            <a:r>
              <a:t>封面照片：assets/nm-shilin.jpg，經目視檢查為夜市街景，只作氣氛示意。本簡報未加入或推測網站部署網址。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資料來源：本專案 app.js 的 SHOPS / ZONES 靜態資料快照，共 88 筆。人均為指南估算（NT$），不是單品現價；營業時間及推薦指數並非即時核實資料或即時 Google 評分。出發前請向店家確認地址、營業安排及價格。所有照片只作飲食／街景示意，不能據此辨認所列店家。</a:t>
            </a:r>
          </a:p>
          <a:p/>
          <a:p>
            <a:r>
              <a:t>計算依據：SHOPS 共 88 筆；food 63、drink 15、dessert 10；p 最小 40、最大 600。分類沿用原指南，例如供餐茶館亦可能歸為嘢飲。條目不等同經核實仍在營業的獨立餐廳數。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資料來源：本專案 app.js 的 SHOPS / ZONES 靜態資料快照，共 88 筆。人均為指南估算（NT$），不是單品現價；營業時間及推薦指數並非即時核實資料或即時 Google 評分。出發前請向店家確認地址、營業安排及價格。所有照片只作飲食／街景示意，不能據此辨認所列店家。</a:t>
            </a:r>
          </a:p>
          <a:p/>
          <a:p>
            <a:r>
              <a:t>分區統計：arrival 13 筆（80–380）；yt 41 筆（40–320）；ntu 22 筆（50–400）；other 12 筆（60–600）。地理文字依 ZONES.hint；分區為指南編排，不是行政區界或精確導航。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資料來源：本專案 app.js 的 SHOPS / ZONES 靜態資料快照，共 88 筆。人均為指南估算（NT$），不是單品現價；營業時間及推薦指數並非即時核實資料或即時 Google 評分。出發前請向店家確認地址、營業安排及價格。所有照片只作飲食／街景示意，不能據此辨認所列店家。</a:t>
            </a:r>
          </a:p>
          <a:p/>
          <a:p>
            <a:r>
              <a:t>此頁為編輯建議順序，不保證途經台北車站，亦不描述可通行的航廈區域或機場店家現況。價格取自小王煮瓜 桃園機場 T2（p=120）、台鐵便當 台北車站（p=100）。無加入未经核實之車費或行車時間。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資料來源：本專案 app.js 的 SHOPS / ZONES 靜態資料快照，共 88 筆。人均為指南估算（NT$），不是單品現價；營業時間及推薦指數並非即時核實資料或即時 Google 評分。出發前請向店家確認地址、營業安排及價格。所有照片只作飲食／街景示意，不能據此辨認所列店家。</a:t>
            </a:r>
          </a:p>
          <a:p/>
          <a:p>
            <a:r>
              <a:t>四筆精選均來自 z=yt，p 依次 60、90、170、85。全部有 dc=1 標記；該標記來自指南對 Dcard 文章及留言的整理，未重新核實作者體驗或店家現況。地址為原資料摘錄。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資料來源：本專案 app.js 的 SHOPS / ZONES 靜態資料快照，共 88 筆。人均為指南估算（NT$），不是單品現價；營業時間及推薦指數並非即時核實資料或即時 Google 評分。出發前請向店家確認地址、營業安排及價格。所有照片只作飲食／街景示意，不能據此辨認所列店家。</a:t>
            </a:r>
          </a:p>
          <a:p/>
          <a:p>
            <a:r>
              <a:t>四筆精選均來自 z=ntu，p 依次 60、90、170、65。餐點介紹以 s 招牌欄為依據，語氣為編輯改寫；並非作者實地試食記錄。照片有割包、芋圓與珍奶，皆為示意，並非所列店家的餐點證據。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資料來源：本專案 app.js 的 SHOPS / ZONES 靜態資料快照，共 88 筆。人均為指南估算（NT$），不是單品現價；營業時間及推薦指數並非即時核實資料或即時 Google 評分。出發前請向店家確認地址、營業安排及價格。所有照片只作飲食／街景示意，不能據此辨認所列店家。</a:t>
            </a:r>
          </a:p>
          <a:p/>
          <a:p>
            <a:r>
              <a:t>精選資料：阜杭豆漿 p=80、永康牛肉麵 p=300、鼎泰豐 信義本店 p=600。照片目視核對為餐廳用餐區、牛肉湯麵、小籠包，只作示意。未採用原介紹中的米其林、排隊時長、店史、製作摺數等未重新核實敘述。鼎泰豐分店現行服務型態請另查店方資訊。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資料來源：本專案 app.js 的 SHOPS / ZONES 靜態資料快照，共 88 筆。人均為指南估算（NT$），不是單品現價；營業時間及推薦指數並非即時核實資料或即時 Google 評分。出發前請向店家確認地址、營業安排及價格。所有照片只作飲食／街景示意，不能據此辨認所列店家。</a:t>
            </a:r>
          </a:p>
          <a:p/>
          <a:p>
            <a:r>
              <a:t>本頁明確為編輯建議，不是已核實旅程、交通導航或營業承諾。60+170+65+85=380，僅加總四筆 p 人均估算，並非指定單品報價。原資料中早貓、口碑鹹酥雞週日休；因此不應假定所有日期均可照行。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資料來源：本專案 app.js 的 SHOPS / ZONES 靜態資料快照，共 88 筆。人均為指南估算（NT$），不是單品現價；營業時間及推薦指數並非即時核實資料或即時 Google 評分。出發前請向店家確認地址、營業安排及價格。所有照片只作飲食／街景示意，不能據此辨認所列店家。</a:t>
            </a:r>
          </a:p>
          <a:p/>
          <a:p>
            <a:r>
              <a:t>功能依 app.js 核對：zone/kind 多選、p/r 雙向排序、openState 以台北時間依靜態 o 欄計算、地址 mapsUrl Google Maps 搜尋連結、生活圈 SPOTS 示意地圖。搜尋對應店名 n、地址 a、招牌 s。未見店舖收藏，不宣稱存在此功能。不展示星分，避免誤認為 Google 評分。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資料來源：本專案 app.js 的 SHOPS / ZONES 靜態資料快照，共 88 筆。人均為指南估算（NT$），不是單品現價；營業時間及推薦指數並非即時核實資料或即時 Google 評分。出發前請向店家確認地址、營業安排及價格。所有照片只作飲食／街景示意，不能據此辨認所列店家。</a:t>
            </a:r>
          </a:p>
          <a:p/>
          <a:p>
            <a:r>
              <a:t>来源脈絡另見原 index.html 頁尾：宿舍周邊部分取自 Dcard 國立臺北商業大學板《#文長 給新生們-台北圓通雅筑宿舍攻略》及留言推薦。原專案未提供可核實 Dcard 來源網址及各照片授權資訊，因此不補造網址或作者。公開發布前應補查照片授權。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83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m-shilin.jpg"/>
          <p:cNvPicPr>
            <a:picLocks noChangeAspect="1"/>
          </p:cNvPicPr>
          <p:nvPr/>
        </p:nvPicPr>
        <p:blipFill>
          <a:blip r:embed="rId2"/>
          <a:srcRect l="18309" r="18309"/>
          <a:stretch>
            <a:fillRect/>
          </a:stretch>
        </p:blipFill>
        <p:spPr>
          <a:xfrm>
            <a:off x="5669280" y="0"/>
            <a:ext cx="6522689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02920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60">
                <a:solidFill>
                  <a:srgbClr val="C6CDBD"/>
                </a:solidFill>
                <a:latin typeface="Inter"/>
                <a:ea typeface="Noto Sans CJK TC"/>
              </a:rPr>
              <a:t>TAIPEI  /  A FOOD FIELD GUIDE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960120"/>
            <a:ext cx="4480560" cy="0"/>
          </a:xfrm>
          <a:prstGeom prst="line">
            <a:avLst/>
          </a:prstGeom>
          <a:ln w="8890">
            <a:solidFill>
              <a:srgbClr val="5270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399032"/>
            <a:ext cx="51663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500" b="0">
                <a:solidFill>
                  <a:srgbClr val="F5F1E8"/>
                </a:solidFill>
                <a:latin typeface="Liberation Serif"/>
                <a:ea typeface="Noto Sans CJK TC"/>
              </a:rPr>
              <a:t>Taipei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500" b="0">
                <a:solidFill>
                  <a:srgbClr val="F5F1E8"/>
                </a:solidFill>
                <a:latin typeface="Liberation Serif"/>
                <a:ea typeface="Noto Sans CJK TC"/>
              </a:rPr>
              <a:t>Gourmet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70332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5F1E8"/>
                </a:solidFill>
                <a:latin typeface="Noto Sans CJK TC"/>
                <a:ea typeface="Noto Sans CJK TC"/>
              </a:rPr>
              <a:t>圓通食堂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464515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DCE0D0"/>
                </a:solidFill>
                <a:latin typeface="Noto Sans CJK TC"/>
                <a:ea typeface="Noto Sans CJK TC"/>
              </a:rPr>
              <a:t>由落機嗰餐，到落堂嗰碗。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5724144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60">
                <a:solidFill>
                  <a:srgbClr val="E5B5A1"/>
                </a:solidFill>
                <a:latin typeface="Inter"/>
                <a:ea typeface="Noto Sans CJK TC"/>
              </a:rPr>
              <a:t>88 ENTRIES  ·  4 ZONES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117336"/>
            <a:ext cx="4800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6CDBD"/>
                </a:solidFill>
                <a:latin typeface="Noto Sans CJK TC"/>
                <a:ea typeface="Noto Sans CJK TC"/>
              </a:rPr>
              <a:t>台大圓通雅筑國際學舍 · 生活美食指南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08008" y="6281928"/>
            <a:ext cx="2514600" cy="265176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08592" y="6327648"/>
            <a:ext cx="23225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83E35"/>
                </a:solidFill>
                <a:latin typeface="Noto Sans CJK TC"/>
                <a:ea typeface="Noto Sans CJK TC"/>
              </a:rPr>
              <a:t>夜市街景示意，非指定店家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60">
                <a:solidFill>
                  <a:srgbClr val="777D59"/>
                </a:solidFill>
                <a:latin typeface="Inter"/>
                <a:ea typeface="Noto Sans CJK TC"/>
              </a:rPr>
              <a:t>01  /  THE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183E35"/>
                </a:solidFill>
                <a:latin typeface="Liberation Serif"/>
                <a:ea typeface="Noto Sans CJK TC"/>
              </a:rPr>
              <a:t>A city, by appetite.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149047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43A32"/>
                </a:solidFill>
                <a:latin typeface="Noto Sans CJK TC"/>
                <a:ea typeface="Noto Sans CJK TC"/>
              </a:rPr>
              <a:t>唔使一次食晒，先揀你今日想食嗰區。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8890">
            <a:solidFill>
              <a:srgbClr val="D8D4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51052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77D59"/>
                </a:solidFill>
                <a:latin typeface="Noto Sans CJK TC"/>
                <a:ea typeface="Noto Sans CJK TC"/>
              </a:rPr>
              <a:t>圓通食堂  /  人均為指南估算；營業時間及評分並非即時核實資料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77D59"/>
                </a:solidFill>
                <a:latin typeface="Inter"/>
                <a:ea typeface="Noto Sans CJK TC"/>
              </a:rPr>
              <a:t>02</a:t>
            </a:r>
          </a:p>
        </p:txBody>
      </p:sp>
      <p:pic>
        <p:nvPicPr>
          <p:cNvPr id="8" name="Picture 7" descr="cat-luroufan.jpg"/>
          <p:cNvPicPr>
            <a:picLocks noChangeAspect="1"/>
          </p:cNvPicPr>
          <p:nvPr/>
        </p:nvPicPr>
        <p:blipFill>
          <a:blip r:embed="rId3"/>
          <a:srcRect t="515" b="515"/>
          <a:stretch>
            <a:fillRect/>
          </a:stretch>
        </p:blipFill>
        <p:spPr>
          <a:xfrm>
            <a:off x="7772400" y="2148840"/>
            <a:ext cx="3840480" cy="38039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0" y="6044184"/>
            <a:ext cx="3840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77D59"/>
                </a:solidFill>
                <a:latin typeface="Noto Sans CJK TC"/>
                <a:ea typeface="Noto Sans CJK TC"/>
              </a:rPr>
              <a:t>滷肉飯示意，非指定店家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3017520" cy="1353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0" b="0">
                <a:solidFill>
                  <a:srgbClr val="DE4932"/>
                </a:solidFill>
                <a:latin typeface="Liberation Serif"/>
                <a:ea typeface="Noto Sans CJK TC"/>
              </a:rPr>
              <a:t>88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365760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83E35"/>
                </a:solidFill>
                <a:latin typeface="Noto Sans CJK TC"/>
                <a:ea typeface="Noto Sans CJK TC"/>
              </a:rPr>
              <a:t>筆美食條目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4261104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777D59"/>
                </a:solidFill>
                <a:latin typeface="Noto Sans CJK TC"/>
                <a:ea typeface="Noto Sans CJK TC"/>
              </a:rPr>
              <a:t>店舖、攤位與美食街一齊收錄。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0752" y="2432304"/>
            <a:ext cx="3703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183E35"/>
                </a:solidFill>
                <a:latin typeface="Liberation Serif"/>
                <a:ea typeface="Noto Sans CJK TC"/>
              </a:rPr>
              <a:t>NT$40–600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209544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43A32"/>
                </a:solidFill>
                <a:latin typeface="Noto Sans CJK TC"/>
                <a:ea typeface="Noto Sans CJK TC"/>
              </a:rPr>
              <a:t>全指南人均估算範圍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68503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77D59"/>
                </a:solidFill>
                <a:latin typeface="Noto Sans CJK TC"/>
                <a:ea typeface="Noto Sans CJK TC"/>
              </a:rPr>
              <a:t>4 個地區 × 3 種口味分類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360" y="4855464"/>
            <a:ext cx="6583680" cy="0"/>
          </a:xfrm>
          <a:prstGeom prst="line">
            <a:avLst/>
          </a:prstGeom>
          <a:ln w="8890">
            <a:solidFill>
              <a:srgbClr val="D8D4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94360" y="5074920"/>
            <a:ext cx="1325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300" b="0">
                <a:solidFill>
                  <a:srgbClr val="183E35"/>
                </a:solidFill>
                <a:latin typeface="Liberation Serif"/>
                <a:ea typeface="Noto Sans CJK TC"/>
              </a:rPr>
              <a:t>63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19" y="5385816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43A32"/>
                </a:solidFill>
                <a:latin typeface="Noto Sans CJK TC"/>
                <a:ea typeface="Noto Sans CJK TC"/>
              </a:rPr>
              <a:t>嘢食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52928" y="5074920"/>
            <a:ext cx="1325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300" b="0">
                <a:solidFill>
                  <a:srgbClr val="183E35"/>
                </a:solidFill>
                <a:latin typeface="Liberation Serif"/>
                <a:ea typeface="Noto Sans CJK TC"/>
              </a:rPr>
              <a:t>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04487" y="5385816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43A32"/>
                </a:solidFill>
                <a:latin typeface="Noto Sans CJK TC"/>
                <a:ea typeface="Noto Sans CJK TC"/>
              </a:rPr>
              <a:t>嘢飲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1496" y="5074920"/>
            <a:ext cx="1325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300" b="0">
                <a:solidFill>
                  <a:srgbClr val="183E35"/>
                </a:solidFill>
                <a:latin typeface="Liberation Serif"/>
                <a:ea typeface="Noto Sans CJK TC"/>
              </a:rP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63056" y="5385816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43A32"/>
                </a:solidFill>
                <a:latin typeface="Noto Sans CJK TC"/>
                <a:ea typeface="Noto Sans CJK TC"/>
              </a:rPr>
              <a:t>甜品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60">
                <a:solidFill>
                  <a:srgbClr val="777D59"/>
                </a:solidFill>
                <a:latin typeface="Inter"/>
                <a:ea typeface="Noto Sans CJK TC"/>
              </a:rPr>
              <a:t>02  /  FOUR ZONES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183E35"/>
                </a:solidFill>
                <a:latin typeface="Liberation Serif"/>
                <a:ea typeface="Noto Sans CJK TC"/>
              </a:rPr>
              <a:t>Find your food neighborhood.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149047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43A32"/>
                </a:solidFill>
                <a:latin typeface="Noto Sans CJK TC"/>
                <a:ea typeface="Noto Sans CJK TC"/>
              </a:rPr>
              <a:t>四個指南分區，由到埗補給到周末出走。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8890">
            <a:solidFill>
              <a:srgbClr val="D8D4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51052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77D59"/>
                </a:solidFill>
                <a:latin typeface="Noto Sans CJK TC"/>
                <a:ea typeface="Noto Sans CJK TC"/>
              </a:rPr>
              <a:t>圓通食堂  /  人均為指南估算；營業時間及評分並非即時核實資料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77D59"/>
                </a:solidFill>
                <a:latin typeface="Inter"/>
                <a:ea typeface="Noto Sans CJK TC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58568"/>
            <a:ext cx="2633472" cy="3767328"/>
          </a:xfrm>
          <a:prstGeom prst="rect">
            <a:avLst/>
          </a:prstGeom>
          <a:solidFill>
            <a:srgbClr val="EB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300" b="0">
                <a:solidFill>
                  <a:srgbClr val="DE4932"/>
                </a:solidFill>
                <a:latin typeface="Liberation Serif"/>
                <a:ea typeface="Noto Sans CJK T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37560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60">
                <a:solidFill>
                  <a:srgbClr val="777D59"/>
                </a:solidFill>
                <a:latin typeface="Inter"/>
                <a:ea typeface="Noto Sans CJK TC"/>
              </a:rPr>
              <a:t>ARRIVAL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3075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83E35"/>
                </a:solidFill>
                <a:latin typeface="Noto Sans CJK TC"/>
                <a:ea typeface="Noto Sans CJK TC"/>
              </a:rPr>
              <a:t>到埗美食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3367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E4932"/>
                </a:solidFill>
                <a:latin typeface="Noto Sans CJK TC"/>
                <a:ea typeface="Noto Sans CJK TC"/>
              </a:rPr>
              <a:t>13 筆  /  NT$80–380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727448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43A32"/>
                </a:solidFill>
                <a:latin typeface="Noto Sans CJK TC"/>
                <a:ea typeface="Noto Sans CJK TC"/>
              </a:rPr>
              <a:t>桃園機場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43A32"/>
                </a:solidFill>
                <a:latin typeface="Noto Sans CJK TC"/>
                <a:ea typeface="Noto Sans CJK TC"/>
              </a:rPr>
              <a:t>台北車站沿線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486400"/>
            <a:ext cx="22860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77D59"/>
                </a:solidFill>
                <a:latin typeface="Noto Sans CJK TC"/>
                <a:ea typeface="Noto Sans CJK TC"/>
              </a:rPr>
              <a:t>落機唔使急，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77D59"/>
                </a:solidFill>
                <a:latin typeface="Noto Sans CJK TC"/>
                <a:ea typeface="Noto Sans CJK TC"/>
              </a:rPr>
              <a:t>先食一餐再安頓。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64992" y="2258568"/>
            <a:ext cx="2633472" cy="3767328"/>
          </a:xfrm>
          <a:prstGeom prst="rect">
            <a:avLst/>
          </a:prstGeom>
          <a:solidFill>
            <a:srgbClr val="E3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7872" y="242316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300" b="0">
                <a:solidFill>
                  <a:srgbClr val="DE4932"/>
                </a:solidFill>
                <a:latin typeface="Liberation Serif"/>
                <a:ea typeface="Noto Sans CJK TC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3337560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60">
                <a:solidFill>
                  <a:srgbClr val="777D59"/>
                </a:solidFill>
                <a:latin typeface="Inter"/>
                <a:ea typeface="Noto Sans CJK TC"/>
              </a:rPr>
              <a:t>YUANTONG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373075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83E35"/>
                </a:solidFill>
                <a:latin typeface="Noto Sans CJK TC"/>
                <a:ea typeface="Noto Sans CJK TC"/>
              </a:rPr>
              <a:t>圓通宿舍美食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423367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E4932"/>
                </a:solidFill>
                <a:latin typeface="Noto Sans CJK TC"/>
                <a:ea typeface="Noto Sans CJK TC"/>
              </a:rPr>
              <a:t>41 筆  /  NT$40–320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4727448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43A32"/>
                </a:solidFill>
                <a:latin typeface="Noto Sans CJK TC"/>
                <a:ea typeface="Noto Sans CJK TC"/>
              </a:rPr>
              <a:t>工專路 · 華新街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43A32"/>
                </a:solidFill>
                <a:latin typeface="Noto Sans CJK TC"/>
                <a:ea typeface="Noto Sans CJK TC"/>
              </a:rPr>
              <a:t>南勢角 · 興南夜市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7872" y="5486400"/>
            <a:ext cx="22860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77D59"/>
                </a:solidFill>
                <a:latin typeface="Noto Sans CJK TC"/>
                <a:ea typeface="Noto Sans CJK TC"/>
              </a:rPr>
              <a:t>早餐、便當、宵夜，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77D59"/>
                </a:solidFill>
                <a:latin typeface="Noto Sans CJK TC"/>
                <a:ea typeface="Noto Sans CJK TC"/>
              </a:rPr>
              <a:t>慢慢建立日常飯堂。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81344" y="2258568"/>
            <a:ext cx="2633472" cy="3767328"/>
          </a:xfrm>
          <a:prstGeom prst="rect">
            <a:avLst/>
          </a:prstGeom>
          <a:solidFill>
            <a:srgbClr val="EB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42316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300" b="0">
                <a:solidFill>
                  <a:srgbClr val="DE4932"/>
                </a:solidFill>
                <a:latin typeface="Liberation Serif"/>
                <a:ea typeface="Noto Sans CJK TC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3337560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60">
                <a:solidFill>
                  <a:srgbClr val="777D59"/>
                </a:solidFill>
                <a:latin typeface="Inter"/>
                <a:ea typeface="Noto Sans CJK TC"/>
              </a:rPr>
              <a:t>GONGGUAN / NTU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73075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83E35"/>
                </a:solidFill>
                <a:latin typeface="Noto Sans CJK TC"/>
                <a:ea typeface="Noto Sans CJK TC"/>
              </a:rPr>
              <a:t>台大美食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4224" y="423367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E4932"/>
                </a:solidFill>
                <a:latin typeface="Noto Sans CJK TC"/>
                <a:ea typeface="Noto Sans CJK TC"/>
              </a:rPr>
              <a:t>22 筆  /  NT$50–400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4224" y="4727448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43A32"/>
                </a:solidFill>
                <a:latin typeface="Noto Sans CJK TC"/>
                <a:ea typeface="Noto Sans CJK TC"/>
              </a:rPr>
              <a:t>公館 · 溫州街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43A32"/>
                </a:solidFill>
                <a:latin typeface="Noto Sans CJK TC"/>
                <a:ea typeface="Noto Sans CJK TC"/>
              </a:rPr>
              <a:t>汀州路 · 台大校區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4224" y="5486400"/>
            <a:ext cx="22860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77D59"/>
                </a:solidFill>
                <a:latin typeface="Noto Sans CJK TC"/>
                <a:ea typeface="Noto Sans CJK TC"/>
              </a:rPr>
              <a:t>落堂搵飯食，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77D59"/>
                </a:solidFill>
                <a:latin typeface="Noto Sans CJK TC"/>
                <a:ea typeface="Noto Sans CJK TC"/>
              </a:rPr>
              <a:t>順便加杯嘢飲。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97696" y="2258568"/>
            <a:ext cx="2633472" cy="3767328"/>
          </a:xfrm>
          <a:prstGeom prst="rect">
            <a:avLst/>
          </a:prstGeom>
          <a:solidFill>
            <a:srgbClr val="E3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80576" y="242316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300" b="0">
                <a:solidFill>
                  <a:srgbClr val="DE4932"/>
                </a:solidFill>
                <a:latin typeface="Liberation Serif"/>
                <a:ea typeface="Noto Sans CJK TC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0576" y="3337560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60">
                <a:solidFill>
                  <a:srgbClr val="777D59"/>
                </a:solidFill>
                <a:latin typeface="Inter"/>
                <a:ea typeface="Noto Sans CJK TC"/>
              </a:rPr>
              <a:t>TAIPEI CLASSICS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0576" y="373075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83E35"/>
                </a:solidFill>
                <a:latin typeface="Noto Sans CJK TC"/>
                <a:ea typeface="Noto Sans CJK TC"/>
              </a:rPr>
              <a:t>其他台北美食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0576" y="423367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E4932"/>
                </a:solidFill>
                <a:latin typeface="Noto Sans CJK TC"/>
                <a:ea typeface="Noto Sans CJK TC"/>
              </a:rPr>
              <a:t>12 筆  /  NT$60–600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0576" y="4727448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43A32"/>
                </a:solidFill>
                <a:latin typeface="Noto Sans CJK TC"/>
                <a:ea typeface="Noto Sans CJK TC"/>
              </a:rPr>
              <a:t>指南其餘台北條目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43A32"/>
                </a:solidFill>
                <a:latin typeface="Noto Sans CJK TC"/>
                <a:ea typeface="Noto Sans CJK TC"/>
              </a:rPr>
              <a:t>市區小吃與夜市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0576" y="5486400"/>
            <a:ext cx="22860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77D59"/>
                </a:solidFill>
                <a:latin typeface="Noto Sans CJK TC"/>
                <a:ea typeface="Noto Sans CJK TC"/>
              </a:rPr>
              <a:t>留返一日，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77D59"/>
                </a:solidFill>
                <a:latin typeface="Noto Sans CJK TC"/>
                <a:ea typeface="Noto Sans CJK TC"/>
              </a:rPr>
              <a:t>食吓台北經典。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60">
                <a:solidFill>
                  <a:srgbClr val="777D59"/>
                </a:solidFill>
                <a:latin typeface="Inter"/>
                <a:ea typeface="Noto Sans CJK TC"/>
              </a:rPr>
              <a:t>03  /  ARRIVAL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183E35"/>
                </a:solidFill>
                <a:latin typeface="Liberation Serif"/>
                <a:ea typeface="Noto Sans CJK TC"/>
              </a:rPr>
              <a:t>Land. Eat. Settle 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149047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43A32"/>
                </a:solidFill>
                <a:latin typeface="Noto Sans CJK TC"/>
                <a:ea typeface="Noto Sans CJK TC"/>
              </a:rPr>
              <a:t>到埗先搞掂肚餓，唔使第一日就趕行程。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8890">
            <a:solidFill>
              <a:srgbClr val="D8D4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51052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77D59"/>
                </a:solidFill>
                <a:latin typeface="Noto Sans CJK TC"/>
                <a:ea typeface="Noto Sans CJK TC"/>
              </a:rPr>
              <a:t>圓通食堂  /  人均為指南估算；營業時間及評分並非即時核實資料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77D59"/>
                </a:solidFill>
                <a:latin typeface="Inter"/>
                <a:ea typeface="Noto Sans CJK TC"/>
              </a:rPr>
              <a:t>04</a:t>
            </a:r>
          </a:p>
        </p:txBody>
      </p:sp>
      <p:pic>
        <p:nvPicPr>
          <p:cNvPr id="8" name="Picture 7" descr="cat-bubble-tea.jpg"/>
          <p:cNvPicPr>
            <a:picLocks noChangeAspect="1"/>
          </p:cNvPicPr>
          <p:nvPr/>
        </p:nvPicPr>
        <p:blipFill>
          <a:blip r:embed="rId3"/>
          <a:srcRect t="18989" b="18989"/>
          <a:stretch>
            <a:fillRect/>
          </a:stretch>
        </p:blipFill>
        <p:spPr>
          <a:xfrm>
            <a:off x="7543800" y="2148840"/>
            <a:ext cx="4069080" cy="33649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43800" y="5623560"/>
            <a:ext cx="40690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77D59"/>
                </a:solidFill>
                <a:latin typeface="Noto Sans CJK TC"/>
                <a:ea typeface="Noto Sans CJK TC"/>
              </a:rPr>
              <a:t>珍珠奶茶示意，非指定店家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5925312"/>
            <a:ext cx="4069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77D59"/>
                </a:solidFill>
                <a:latin typeface="Noto Sans CJK TC"/>
                <a:ea typeface="Noto Sans CJK TC"/>
              </a:rPr>
              <a:t>交通路線、票價與所需時間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77D59"/>
                </a:solidFill>
                <a:latin typeface="Noto Sans CJK TC"/>
                <a:ea typeface="Noto Sans CJK TC"/>
              </a:rPr>
              <a:t>請出發前查官方最新資訊。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13432"/>
            <a:ext cx="685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DE4932"/>
                </a:solidFill>
                <a:latin typeface="Liberation Serif"/>
                <a:ea typeface="Noto Sans CJK TC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313432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83E35"/>
                </a:solidFill>
                <a:latin typeface="Noto Sans CJK TC"/>
                <a:ea typeface="Noto Sans CJK TC"/>
              </a:rPr>
              <a:t>落機後，按航廈揀一餐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816352"/>
            <a:ext cx="5760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43A32"/>
                </a:solidFill>
                <a:latin typeface="Noto Sans CJK TC"/>
                <a:ea typeface="Noto Sans CJK TC"/>
              </a:rPr>
              <a:t>指南例子：小王煮瓜 桃園機場 T2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182111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77D59"/>
                </a:solidFill>
                <a:latin typeface="Noto Sans CJK TC"/>
                <a:ea typeface="Noto Sans CJK TC"/>
              </a:rPr>
              <a:t>滷肉飯／焢肉飯 · 人均估算 NT$120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417320" y="3493008"/>
            <a:ext cx="5532120" cy="0"/>
          </a:xfrm>
          <a:prstGeom prst="line">
            <a:avLst/>
          </a:prstGeom>
          <a:ln w="8890">
            <a:solidFill>
              <a:srgbClr val="D8D4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3621024"/>
            <a:ext cx="685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DE4932"/>
                </a:solidFill>
                <a:latin typeface="Liberation Serif"/>
                <a:ea typeface="Noto Sans CJK TC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621024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83E35"/>
                </a:solidFill>
                <a:latin typeface="Noto Sans CJK TC"/>
                <a:ea typeface="Noto Sans CJK TC"/>
              </a:rPr>
              <a:t>如經台北車站，再補給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123944"/>
            <a:ext cx="5760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43A32"/>
                </a:solidFill>
                <a:latin typeface="Noto Sans CJK TC"/>
                <a:ea typeface="Noto Sans CJK TC"/>
              </a:rPr>
              <a:t>指南例子：台鐵便當 台北車站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489704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77D59"/>
                </a:solidFill>
                <a:latin typeface="Noto Sans CJK TC"/>
                <a:ea typeface="Noto Sans CJK TC"/>
              </a:rPr>
              <a:t>排骨便當／雞腿便當 · 人均估算 NT$100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17320" y="4800600"/>
            <a:ext cx="5532120" cy="0"/>
          </a:xfrm>
          <a:prstGeom prst="line">
            <a:avLst/>
          </a:prstGeom>
          <a:ln w="8890">
            <a:solidFill>
              <a:srgbClr val="D8D4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94360" y="4928616"/>
            <a:ext cx="685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DE4932"/>
                </a:solidFill>
                <a:latin typeface="Liberation Serif"/>
                <a:ea typeface="Noto Sans CJK TC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928616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83E35"/>
                </a:solidFill>
                <a:latin typeface="Noto Sans CJK TC"/>
                <a:ea typeface="Noto Sans CJK TC"/>
              </a:rPr>
              <a:t>先安頓行李，再探索附近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5431536"/>
            <a:ext cx="5760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43A32"/>
                </a:solidFill>
                <a:latin typeface="Noto Sans CJK TC"/>
                <a:ea typeface="Noto Sans CJK TC"/>
              </a:rPr>
              <a:t>圓通宿舍 → 工專路／華新街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5797296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77D59"/>
                </a:solidFill>
                <a:latin typeface="Noto Sans CJK TC"/>
                <a:ea typeface="Noto Sans CJK TC"/>
              </a:rPr>
              <a:t>按精神同肚餓程度揀，唔一定每站都食。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60">
                <a:solidFill>
                  <a:srgbClr val="777D59"/>
                </a:solidFill>
                <a:latin typeface="Inter"/>
                <a:ea typeface="Noto Sans CJK TC"/>
              </a:rPr>
              <a:t>04  /  YUANTONG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183E35"/>
                </a:solidFill>
                <a:latin typeface="Liberation Serif"/>
                <a:ea typeface="Noto Sans CJK TC"/>
              </a:rPr>
              <a:t>Your everyday table.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149047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43A32"/>
                </a:solidFill>
                <a:latin typeface="Noto Sans CJK TC"/>
                <a:ea typeface="Noto Sans CJK TC"/>
              </a:rPr>
              <a:t>宿舍附近，由早餐食到宵夜。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8890">
            <a:solidFill>
              <a:srgbClr val="D8D4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51052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77D59"/>
                </a:solidFill>
                <a:latin typeface="Noto Sans CJK TC"/>
                <a:ea typeface="Noto Sans CJK TC"/>
              </a:rPr>
              <a:t>圓通食堂  /  人均為指南估算；營業時間及評分並非即時核實資料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77D59"/>
                </a:solidFill>
                <a:latin typeface="Inter"/>
                <a:ea typeface="Noto Sans CJK TC"/>
              </a:rPr>
              <a:t>05</a:t>
            </a:r>
          </a:p>
        </p:txBody>
      </p:sp>
      <p:pic>
        <p:nvPicPr>
          <p:cNvPr id="8" name="Picture 7" descr="nightmarket-wide.jpg"/>
          <p:cNvPicPr>
            <a:picLocks noChangeAspect="1"/>
          </p:cNvPicPr>
          <p:nvPr/>
        </p:nvPicPr>
        <p:blipFill>
          <a:blip r:embed="rId3"/>
          <a:srcRect l="9555" r="9555"/>
          <a:stretch>
            <a:fillRect/>
          </a:stretch>
        </p:blipFill>
        <p:spPr>
          <a:xfrm>
            <a:off x="548640" y="2157984"/>
            <a:ext cx="4251960" cy="35021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760720"/>
            <a:ext cx="4251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77D59"/>
                </a:solidFill>
                <a:latin typeface="Noto Sans CJK TC"/>
                <a:ea typeface="Noto Sans CJK TC"/>
              </a:rPr>
              <a:t>街頭小吃示意，非所列店家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080760"/>
            <a:ext cx="4297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60">
                <a:solidFill>
                  <a:srgbClr val="DE4932"/>
                </a:solidFill>
                <a:latin typeface="Inter"/>
                <a:ea typeface="Noto Sans CJK TC"/>
              </a:rPr>
              <a:t>41 ENTRIES  /  NT$40–320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85232" y="2130552"/>
            <a:ext cx="4956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3E35"/>
                </a:solidFill>
                <a:latin typeface="Noto Sans CJK TC"/>
                <a:ea typeface="Noto Sans CJK TC"/>
              </a:rPr>
              <a:t>早貓（早點）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14432" y="2148840"/>
            <a:ext cx="12984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4932"/>
                </a:solidFill>
                <a:latin typeface="Inter"/>
                <a:ea typeface="Noto Sans CJK TC"/>
              </a:rPr>
              <a:t>NT$60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85232" y="2523744"/>
            <a:ext cx="632764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43A32"/>
                </a:solidFill>
                <a:latin typeface="Noto Sans CJK TC"/>
                <a:ea typeface="Noto Sans CJK TC"/>
              </a:rPr>
              <a:t>蛋餅做起點，留返午餐再慢慢揀。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85232" y="2852928"/>
            <a:ext cx="63276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77D59"/>
                </a:solidFill>
                <a:latin typeface="Noto Sans CJK TC"/>
                <a:ea typeface="Noto Sans CJK TC"/>
              </a:rPr>
              <a:t>工專路 20 號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285232" y="3118104"/>
            <a:ext cx="6327648" cy="0"/>
          </a:xfrm>
          <a:prstGeom prst="line">
            <a:avLst/>
          </a:prstGeom>
          <a:ln w="8890">
            <a:solidFill>
              <a:srgbClr val="D8D4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285232" y="3172968"/>
            <a:ext cx="4956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3E35"/>
                </a:solidFill>
                <a:latin typeface="Noto Sans CJK TC"/>
                <a:ea typeface="Noto Sans CJK TC"/>
              </a:rPr>
              <a:t>小舖媽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14432" y="3191256"/>
            <a:ext cx="12984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4932"/>
                </a:solidFill>
                <a:latin typeface="Inter"/>
                <a:ea typeface="Noto Sans CJK TC"/>
              </a:rPr>
              <a:t>NT$90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85232" y="3566160"/>
            <a:ext cx="632764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43A32"/>
                </a:solidFill>
                <a:latin typeface="Noto Sans CJK TC"/>
                <a:ea typeface="Noto Sans CJK TC"/>
              </a:rPr>
              <a:t>小吃、義大利麵、自助餐，日常一餐。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85232" y="3895344"/>
            <a:ext cx="63276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77D59"/>
                </a:solidFill>
                <a:latin typeface="Noto Sans CJK TC"/>
                <a:ea typeface="Noto Sans CJK TC"/>
              </a:rPr>
              <a:t>工專路 26 號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285232" y="4160520"/>
            <a:ext cx="6327648" cy="0"/>
          </a:xfrm>
          <a:prstGeom prst="line">
            <a:avLst/>
          </a:prstGeom>
          <a:ln w="8890">
            <a:solidFill>
              <a:srgbClr val="D8D4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285232" y="4215383"/>
            <a:ext cx="4956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3E35"/>
                </a:solidFill>
                <a:latin typeface="Noto Sans CJK TC"/>
                <a:ea typeface="Noto Sans CJK TC"/>
              </a:rPr>
              <a:t>小檳城食堂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14432" y="4233671"/>
            <a:ext cx="12984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4932"/>
                </a:solidFill>
                <a:latin typeface="Inter"/>
                <a:ea typeface="Noto Sans CJK TC"/>
              </a:rPr>
              <a:t>NT$170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4608575"/>
            <a:ext cx="632764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43A32"/>
                </a:solidFill>
                <a:latin typeface="Noto Sans CJK TC"/>
                <a:ea typeface="Noto Sans CJK TC"/>
              </a:rPr>
              <a:t>燒雞飯、炒粿條、叻沙，換吓南洋口味。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85232" y="4937759"/>
            <a:ext cx="63276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77D59"/>
                </a:solidFill>
                <a:latin typeface="Noto Sans CJK TC"/>
                <a:ea typeface="Noto Sans CJK TC"/>
              </a:rPr>
              <a:t>華新街 112 號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285232" y="5202936"/>
            <a:ext cx="6327648" cy="0"/>
          </a:xfrm>
          <a:prstGeom prst="line">
            <a:avLst/>
          </a:prstGeom>
          <a:ln w="8890">
            <a:solidFill>
              <a:srgbClr val="D8D4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285232" y="5257800"/>
            <a:ext cx="4956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3E35"/>
                </a:solidFill>
                <a:latin typeface="Noto Sans CJK TC"/>
                <a:ea typeface="Noto Sans CJK TC"/>
              </a:rPr>
              <a:t>口碑鹹酥雞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14432" y="5276088"/>
            <a:ext cx="12984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4932"/>
                </a:solidFill>
                <a:latin typeface="Inter"/>
                <a:ea typeface="Noto Sans CJK TC"/>
              </a:rPr>
              <a:t>NT$85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5232" y="5650992"/>
            <a:ext cx="632764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43A32"/>
                </a:solidFill>
                <a:latin typeface="Noto Sans CJK TC"/>
                <a:ea typeface="Noto Sans CJK TC"/>
              </a:rPr>
              <a:t>鹹酥雞、魷魚、雞皮，宵夜可以分享。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85232" y="5980176"/>
            <a:ext cx="63276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77D59"/>
                </a:solidFill>
                <a:latin typeface="Noto Sans CJK TC"/>
                <a:ea typeface="Noto Sans CJK TC"/>
              </a:rPr>
              <a:t>忠孝街 76 號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285232" y="6245352"/>
            <a:ext cx="6327648" cy="0"/>
          </a:xfrm>
          <a:prstGeom prst="line">
            <a:avLst/>
          </a:prstGeom>
          <a:ln w="8890">
            <a:solidFill>
              <a:srgbClr val="D8D4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60">
                <a:solidFill>
                  <a:srgbClr val="777D59"/>
                </a:solidFill>
                <a:latin typeface="Inter"/>
                <a:ea typeface="Noto Sans CJK TC"/>
              </a:rPr>
              <a:t>05  /  GONGGUAN + NTU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183E35"/>
                </a:solidFill>
                <a:latin typeface="Liberation Serif"/>
                <a:ea typeface="Noto Sans CJK TC"/>
              </a:rPr>
              <a:t>Between classes, eat well.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149047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43A32"/>
                </a:solidFill>
                <a:latin typeface="Noto Sans CJK TC"/>
                <a:ea typeface="Noto Sans CJK TC"/>
              </a:rPr>
              <a:t>公館搵嘢食，正餐、小食、甜品都留一格。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8890">
            <a:solidFill>
              <a:srgbClr val="D8D4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51052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77D59"/>
                </a:solidFill>
                <a:latin typeface="Noto Sans CJK TC"/>
                <a:ea typeface="Noto Sans CJK TC"/>
              </a:rPr>
              <a:t>圓通食堂  /  人均為指南估算；營業時間及評分並非即時核實資料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77D59"/>
                </a:solidFill>
                <a:latin typeface="Inter"/>
                <a:ea typeface="Noto Sans CJK TC"/>
              </a:rPr>
              <a:t>06</a:t>
            </a:r>
          </a:p>
        </p:txBody>
      </p:sp>
      <p:pic>
        <p:nvPicPr>
          <p:cNvPr id="8" name="Picture 7" descr="r-guabao.jpg"/>
          <p:cNvPicPr>
            <a:picLocks noChangeAspect="1"/>
          </p:cNvPicPr>
          <p:nvPr/>
        </p:nvPicPr>
        <p:blipFill>
          <a:blip r:embed="rId3"/>
          <a:srcRect t="11230" b="11230"/>
          <a:stretch>
            <a:fillRect/>
          </a:stretch>
        </p:blipFill>
        <p:spPr>
          <a:xfrm>
            <a:off x="548640" y="2148840"/>
            <a:ext cx="4251960" cy="2194560"/>
          </a:xfrm>
          <a:prstGeom prst="rect">
            <a:avLst/>
          </a:prstGeom>
        </p:spPr>
      </p:pic>
      <p:pic>
        <p:nvPicPr>
          <p:cNvPr id="9" name="Picture 8" descr="s-taro.jpg"/>
          <p:cNvPicPr>
            <a:picLocks noChangeAspect="1"/>
          </p:cNvPicPr>
          <p:nvPr/>
        </p:nvPicPr>
        <p:blipFill>
          <a:blip r:embed="rId4"/>
          <a:srcRect t="32189" b="32189"/>
          <a:stretch>
            <a:fillRect/>
          </a:stretch>
        </p:blipFill>
        <p:spPr>
          <a:xfrm>
            <a:off x="548640" y="4480560"/>
            <a:ext cx="2057400" cy="1225296"/>
          </a:xfrm>
          <a:prstGeom prst="rect">
            <a:avLst/>
          </a:prstGeom>
        </p:spPr>
      </p:pic>
      <p:pic>
        <p:nvPicPr>
          <p:cNvPr id="10" name="Picture 9" descr="cat-bubble-tea.jpg"/>
          <p:cNvPicPr>
            <a:picLocks noChangeAspect="1"/>
          </p:cNvPicPr>
          <p:nvPr/>
        </p:nvPicPr>
        <p:blipFill>
          <a:blip r:embed="rId5"/>
          <a:srcRect t="27667" b="27667"/>
          <a:stretch>
            <a:fillRect/>
          </a:stretch>
        </p:blipFill>
        <p:spPr>
          <a:xfrm>
            <a:off x="2743200" y="4480560"/>
            <a:ext cx="2057400" cy="12252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806440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77D59"/>
                </a:solidFill>
                <a:latin typeface="Noto Sans CJK TC"/>
                <a:ea typeface="Noto Sans CJK TC"/>
              </a:rPr>
              <a:t>餐點／甜品／飲品示意，非所列店家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089904"/>
            <a:ext cx="4297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60">
                <a:solidFill>
                  <a:srgbClr val="DE4932"/>
                </a:solidFill>
                <a:latin typeface="Inter"/>
                <a:ea typeface="Noto Sans CJK TC"/>
              </a:rPr>
              <a:t>22 ENTRIES  /  NT$50–400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85232" y="2130552"/>
            <a:ext cx="4956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3E35"/>
                </a:solidFill>
                <a:latin typeface="Noto Sans CJK TC"/>
                <a:ea typeface="Noto Sans CJK TC"/>
              </a:rPr>
              <a:t>JODO 飯糰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14432" y="2148840"/>
            <a:ext cx="12984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4932"/>
                </a:solidFill>
                <a:latin typeface="Inter"/>
                <a:ea typeface="Noto Sans CJK TC"/>
              </a:rPr>
              <a:t>NT$60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85232" y="2523744"/>
            <a:ext cx="632764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43A32"/>
                </a:solidFill>
                <a:latin typeface="Noto Sans CJK TC"/>
                <a:ea typeface="Noto Sans CJK TC"/>
              </a:rPr>
              <a:t>飯糰、鮪魚飯糰，簡單開始一日。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85232" y="2852928"/>
            <a:ext cx="63276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77D59"/>
                </a:solidFill>
                <a:latin typeface="Noto Sans CJK TC"/>
                <a:ea typeface="Noto Sans CJK TC"/>
              </a:rPr>
              <a:t>汀州路三段 131 號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285232" y="3118104"/>
            <a:ext cx="6327648" cy="0"/>
          </a:xfrm>
          <a:prstGeom prst="line">
            <a:avLst/>
          </a:prstGeom>
          <a:ln w="8890">
            <a:solidFill>
              <a:srgbClr val="D8D4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285232" y="3172968"/>
            <a:ext cx="4956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3E35"/>
                </a:solidFill>
                <a:latin typeface="Noto Sans CJK TC"/>
                <a:ea typeface="Noto Sans CJK TC"/>
              </a:rPr>
              <a:t>藍家割包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14432" y="3191256"/>
            <a:ext cx="12984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4932"/>
                </a:solidFill>
                <a:latin typeface="Inter"/>
                <a:ea typeface="Noto Sans CJK TC"/>
              </a:rPr>
              <a:t>NT$90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85232" y="3566160"/>
            <a:ext cx="632764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43A32"/>
                </a:solidFill>
                <a:latin typeface="Noto Sans CJK TC"/>
                <a:ea typeface="Noto Sans CJK TC"/>
              </a:rPr>
              <a:t>瘦肉割包、八寶麵，先揀一樣試吓。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85232" y="3895344"/>
            <a:ext cx="63276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77D59"/>
                </a:solidFill>
                <a:latin typeface="Noto Sans CJK TC"/>
                <a:ea typeface="Noto Sans CJK TC"/>
              </a:rPr>
              <a:t>羅斯福路三段 316 巷 8 弄 3 號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285232" y="4160520"/>
            <a:ext cx="6327648" cy="0"/>
          </a:xfrm>
          <a:prstGeom prst="line">
            <a:avLst/>
          </a:prstGeom>
          <a:ln w="8890">
            <a:solidFill>
              <a:srgbClr val="D8D4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285232" y="4215383"/>
            <a:ext cx="4956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3E35"/>
                </a:solidFill>
                <a:latin typeface="Noto Sans CJK TC"/>
                <a:ea typeface="Noto Sans CJK TC"/>
              </a:rPr>
              <a:t>池先生 Kopitiam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14432" y="4233671"/>
            <a:ext cx="12984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4932"/>
                </a:solidFill>
                <a:latin typeface="Inter"/>
                <a:ea typeface="Noto Sans CJK TC"/>
              </a:rPr>
              <a:t>NT$170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5232" y="4608575"/>
            <a:ext cx="632764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43A32"/>
                </a:solidFill>
                <a:latin typeface="Noto Sans CJK TC"/>
                <a:ea typeface="Noto Sans CJK TC"/>
              </a:rPr>
              <a:t>海南雞飯、叻沙，想食正餐就揀呢邊。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85232" y="4937759"/>
            <a:ext cx="63276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77D59"/>
                </a:solidFill>
                <a:latin typeface="Noto Sans CJK TC"/>
                <a:ea typeface="Noto Sans CJK TC"/>
              </a:rPr>
              <a:t>羅斯福路三段 284 巷 10 號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285232" y="5202936"/>
            <a:ext cx="6327648" cy="0"/>
          </a:xfrm>
          <a:prstGeom prst="line">
            <a:avLst/>
          </a:prstGeom>
          <a:ln w="8890">
            <a:solidFill>
              <a:srgbClr val="D8D4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285232" y="5257800"/>
            <a:ext cx="4956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3E35"/>
                </a:solidFill>
                <a:latin typeface="Noto Sans CJK TC"/>
                <a:ea typeface="Noto Sans CJK TC"/>
              </a:rPr>
              <a:t>鴉片粉圓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14432" y="5276088"/>
            <a:ext cx="12984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4932"/>
                </a:solidFill>
                <a:latin typeface="Inter"/>
                <a:ea typeface="Noto Sans CJK TC"/>
              </a:rPr>
              <a:t>NT$65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85232" y="5650992"/>
            <a:ext cx="632764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43A32"/>
                </a:solidFill>
                <a:latin typeface="Noto Sans CJK TC"/>
                <a:ea typeface="Noto Sans CJK TC"/>
              </a:rPr>
              <a:t>粉圓冰、綜合冰，食完飯加個甜品。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85232" y="5980176"/>
            <a:ext cx="63276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77D59"/>
                </a:solidFill>
                <a:latin typeface="Noto Sans CJK TC"/>
                <a:ea typeface="Noto Sans CJK TC"/>
              </a:rPr>
              <a:t>羅斯福路四段 52 巷 16 弄 4 號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285232" y="6245352"/>
            <a:ext cx="6327648" cy="0"/>
          </a:xfrm>
          <a:prstGeom prst="line">
            <a:avLst/>
          </a:prstGeom>
          <a:ln w="8890">
            <a:solidFill>
              <a:srgbClr val="D8D4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60">
                <a:solidFill>
                  <a:srgbClr val="777D59"/>
                </a:solidFill>
                <a:latin typeface="Inter"/>
                <a:ea typeface="Noto Sans CJK TC"/>
              </a:rPr>
              <a:t>06  /  TAIPEI CLASSICS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183E35"/>
                </a:solidFill>
                <a:latin typeface="Liberation Serif"/>
                <a:ea typeface="Noto Sans CJK TC"/>
              </a:rPr>
              <a:t>Save room for the classics.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149047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43A32"/>
                </a:solidFill>
                <a:latin typeface="Noto Sans CJK TC"/>
                <a:ea typeface="Noto Sans CJK TC"/>
              </a:rPr>
              <a:t>有一日唔趕堂，就揀一款台北味道。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8890">
            <a:solidFill>
              <a:srgbClr val="D8D4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51052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77D59"/>
                </a:solidFill>
                <a:latin typeface="Noto Sans CJK TC"/>
                <a:ea typeface="Noto Sans CJK TC"/>
              </a:rPr>
              <a:t>圓通食堂  /  人均為指南估算；營業時間及評分並非即時核實資料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77D59"/>
                </a:solidFill>
                <a:latin typeface="Inter"/>
                <a:ea typeface="Noto Sans CJK TC"/>
              </a:rPr>
              <a:t>07</a:t>
            </a:r>
          </a:p>
        </p:txBody>
      </p:sp>
      <p:pic>
        <p:nvPicPr>
          <p:cNvPr id="8" name="Picture 7" descr="cat-soy-milk.jpg"/>
          <p:cNvPicPr>
            <a:picLocks noChangeAspect="1"/>
          </p:cNvPicPr>
          <p:nvPr/>
        </p:nvPicPr>
        <p:blipFill>
          <a:blip r:embed="rId3"/>
          <a:srcRect t="9829" b="9829"/>
          <a:stretch>
            <a:fillRect/>
          </a:stretch>
        </p:blipFill>
        <p:spPr>
          <a:xfrm>
            <a:off x="548640" y="2148840"/>
            <a:ext cx="3566160" cy="2148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4379976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77D59"/>
                </a:solidFill>
                <a:latin typeface="Noto Sans CJK TC"/>
                <a:ea typeface="Noto Sans CJK TC"/>
              </a:rPr>
              <a:t>餐飲示意，非指定店家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745736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60">
                <a:solidFill>
                  <a:srgbClr val="DE4932"/>
                </a:solidFill>
                <a:latin typeface="Inter"/>
                <a:ea typeface="Noto Sans CJK TC"/>
              </a:rPr>
              <a:t>BREAKFAST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12064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83E35"/>
                </a:solidFill>
                <a:latin typeface="Noto Sans CJK TC"/>
                <a:ea typeface="Noto Sans CJK TC"/>
              </a:rPr>
              <a:t>阜杭豆漿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623560"/>
            <a:ext cx="24688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43A32"/>
                </a:solidFill>
                <a:latin typeface="Noto Sans CJK TC"/>
                <a:ea typeface="Noto Sans CJK TC"/>
              </a:rPr>
              <a:t>厚燒餅油條 · 鹹豆漿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43A32"/>
                </a:solidFill>
                <a:latin typeface="Noto Sans CJK TC"/>
                <a:ea typeface="Noto Sans CJK TC"/>
              </a:rPr>
              <a:t>華山市場一帶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5742432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DE4932"/>
                </a:solidFill>
                <a:latin typeface="Inter"/>
                <a:ea typeface="Noto Sans CJK TC"/>
              </a:rPr>
              <a:t>NT$80</a:t>
            </a:r>
          </a:p>
        </p:txBody>
      </p:sp>
      <p:pic>
        <p:nvPicPr>
          <p:cNvPr id="14" name="Picture 13" descr="r-muji.jpg"/>
          <p:cNvPicPr>
            <a:picLocks noChangeAspect="1"/>
          </p:cNvPicPr>
          <p:nvPr/>
        </p:nvPicPr>
        <p:blipFill>
          <a:blip r:embed="rId4"/>
          <a:srcRect t="9829" b="9829"/>
          <a:stretch>
            <a:fillRect/>
          </a:stretch>
        </p:blipFill>
        <p:spPr>
          <a:xfrm>
            <a:off x="4297679" y="2148840"/>
            <a:ext cx="3566160" cy="21488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297679" y="4379976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77D59"/>
                </a:solidFill>
                <a:latin typeface="Noto Sans CJK TC"/>
                <a:ea typeface="Noto Sans CJK TC"/>
              </a:rPr>
              <a:t>餐飲示意，非指定店家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79" y="4745736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60">
                <a:solidFill>
                  <a:srgbClr val="DE4932"/>
                </a:solidFill>
                <a:latin typeface="Inter"/>
                <a:ea typeface="Noto Sans CJK TC"/>
              </a:rPr>
              <a:t>A BOWL OF NOODLES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79" y="512064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83E35"/>
                </a:solidFill>
                <a:latin typeface="Noto Sans CJK TC"/>
                <a:ea typeface="Noto Sans CJK TC"/>
              </a:rPr>
              <a:t>永康牛肉麵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79" y="5623560"/>
            <a:ext cx="24688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43A32"/>
                </a:solidFill>
                <a:latin typeface="Noto Sans CJK TC"/>
                <a:ea typeface="Noto Sans CJK TC"/>
              </a:rPr>
              <a:t>紅燒牛肉麵 · 粉蒸排骨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43A32"/>
                </a:solidFill>
                <a:latin typeface="Noto Sans CJK TC"/>
                <a:ea typeface="Noto Sans CJK TC"/>
              </a:rPr>
              <a:t>金山南路二段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5742432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DE4932"/>
                </a:solidFill>
                <a:latin typeface="Inter"/>
                <a:ea typeface="Noto Sans CJK TC"/>
              </a:rPr>
              <a:t>NT$300</a:t>
            </a:r>
          </a:p>
        </p:txBody>
      </p:sp>
      <p:pic>
        <p:nvPicPr>
          <p:cNvPr id="20" name="Picture 19" descr="r-dintaifung.jpg"/>
          <p:cNvPicPr>
            <a:picLocks noChangeAspect="1"/>
          </p:cNvPicPr>
          <p:nvPr/>
        </p:nvPicPr>
        <p:blipFill>
          <a:blip r:embed="rId5"/>
          <a:srcRect t="4790" b="4790"/>
          <a:stretch>
            <a:fillRect/>
          </a:stretch>
        </p:blipFill>
        <p:spPr>
          <a:xfrm>
            <a:off x="8046719" y="2148840"/>
            <a:ext cx="3566160" cy="21488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046719" y="4379976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77D59"/>
                </a:solidFill>
                <a:latin typeface="Noto Sans CJK TC"/>
                <a:ea typeface="Noto Sans CJK TC"/>
              </a:rPr>
              <a:t>餐飲示意，非指定店家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9" y="4745736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60">
                <a:solidFill>
                  <a:srgbClr val="DE4932"/>
                </a:solidFill>
                <a:latin typeface="Inter"/>
                <a:ea typeface="Noto Sans CJK TC"/>
              </a:rPr>
              <a:t>DUMPLINGS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512064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83E35"/>
                </a:solidFill>
                <a:latin typeface="Noto Sans CJK TC"/>
                <a:ea typeface="Noto Sans CJK TC"/>
              </a:rPr>
              <a:t>鼎泰豐 信義本店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19" y="5623560"/>
            <a:ext cx="24688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43A32"/>
                </a:solidFill>
                <a:latin typeface="Noto Sans CJK TC"/>
                <a:ea typeface="Noto Sans CJK TC"/>
              </a:rPr>
              <a:t>小籠包 · 元盅雞湯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43A32"/>
                </a:solidFill>
                <a:latin typeface="Noto Sans CJK TC"/>
                <a:ea typeface="Noto Sans CJK TC"/>
              </a:rPr>
              <a:t>信義路二段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69880" y="5742432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DE4932"/>
                </a:solidFill>
                <a:latin typeface="Inter"/>
                <a:ea typeface="Noto Sans CJK TC"/>
              </a:rPr>
              <a:t>NT$600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60">
                <a:solidFill>
                  <a:srgbClr val="B8C5B7"/>
                </a:solidFill>
                <a:latin typeface="Inter"/>
                <a:ea typeface="Noto Sans CJK TC"/>
              </a:rPr>
              <a:t>07  /  AN EDITORIAL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F5F1E8"/>
                </a:solidFill>
                <a:latin typeface="Liberation Serif"/>
                <a:ea typeface="Noto Sans CJK TC"/>
              </a:rPr>
              <a:t>One day. Four good pauses.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149047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5F1E8"/>
                </a:solidFill>
                <a:latin typeface="Noto Sans CJK TC"/>
                <a:ea typeface="Noto Sans CJK TC"/>
              </a:rPr>
              <a:t>編輯提案：圓通 → 公館 → 圓通，唔係既定或已實測路線。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8890">
            <a:solidFill>
              <a:srgbClr val="5270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51052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B8C5B7"/>
                </a:solidFill>
                <a:latin typeface="Noto Sans CJK TC"/>
                <a:ea typeface="Noto Sans CJK TC"/>
              </a:rPr>
              <a:t>圓通食堂  /  人均為指南估算；營業時間及評分並非即時核實資料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C5B7"/>
                </a:solidFill>
                <a:latin typeface="Inter"/>
                <a:ea typeface="Noto Sans CJK TC"/>
              </a:rPr>
              <a:t>08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2743200"/>
            <a:ext cx="10561320" cy="0"/>
          </a:xfrm>
          <a:prstGeom prst="line">
            <a:avLst/>
          </a:prstGeom>
          <a:ln w="8890">
            <a:solidFill>
              <a:srgbClr val="68827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48640" y="2532888"/>
            <a:ext cx="457200" cy="457200"/>
          </a:xfrm>
          <a:prstGeom prst="rect">
            <a:avLst/>
          </a:prstGeom>
          <a:solidFill>
            <a:srgbClr val="DE4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2596896"/>
            <a:ext cx="20116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F1E8"/>
                </a:solidFill>
                <a:latin typeface="Inter"/>
                <a:ea typeface="Noto Sans CJK T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60">
                <a:solidFill>
                  <a:srgbClr val="C6CDBD"/>
                </a:solidFill>
                <a:latin typeface="Inter"/>
                <a:ea typeface="Noto Sans CJK TC"/>
              </a:rPr>
              <a:t>早餐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49039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5F1E8"/>
                </a:solidFill>
                <a:latin typeface="Noto Sans CJK TC"/>
                <a:ea typeface="Noto Sans CJK TC"/>
              </a:rPr>
              <a:t>早貓（早點）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90288"/>
            <a:ext cx="26151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6CDBD"/>
                </a:solidFill>
                <a:latin typeface="Noto Sans CJK TC"/>
                <a:ea typeface="Noto Sans CJK TC"/>
              </a:rPr>
              <a:t>蛋餅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20640"/>
            <a:ext cx="26517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F0B39E"/>
                </a:solidFill>
                <a:latin typeface="Liberation Serif"/>
                <a:ea typeface="Noto Sans CJK TC"/>
              </a:rPr>
              <a:t>NT$60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64992" y="2532888"/>
            <a:ext cx="457200" cy="457200"/>
          </a:xfrm>
          <a:prstGeom prst="rect">
            <a:avLst/>
          </a:prstGeom>
          <a:solidFill>
            <a:srgbClr val="DE4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11296" y="2596896"/>
            <a:ext cx="20116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F1E8"/>
                </a:solidFill>
                <a:latin typeface="Inter"/>
                <a:ea typeface="Noto Sans CJK T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4992" y="3291840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60">
                <a:solidFill>
                  <a:srgbClr val="C6CDBD"/>
                </a:solidFill>
                <a:latin typeface="Inter"/>
                <a:ea typeface="Noto Sans CJK TC"/>
              </a:rPr>
              <a:t>午餐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64992" y="3749039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5F1E8"/>
                </a:solidFill>
                <a:latin typeface="Noto Sans CJK TC"/>
                <a:ea typeface="Noto Sans CJK TC"/>
              </a:rPr>
              <a:t>池先生 Kopitiam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64992" y="4590288"/>
            <a:ext cx="26151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6CDBD"/>
                </a:solidFill>
                <a:latin typeface="Noto Sans CJK TC"/>
                <a:ea typeface="Noto Sans CJK TC"/>
              </a:rPr>
              <a:t>海南雞飯／叻沙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4992" y="5120640"/>
            <a:ext cx="26517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F0B39E"/>
                </a:solidFill>
                <a:latin typeface="Liberation Serif"/>
                <a:ea typeface="Noto Sans CJK TC"/>
              </a:rPr>
              <a:t>NT$170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1344" y="2532888"/>
            <a:ext cx="457200" cy="457200"/>
          </a:xfrm>
          <a:prstGeom prst="rect">
            <a:avLst/>
          </a:prstGeom>
          <a:solidFill>
            <a:srgbClr val="DE4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2596896"/>
            <a:ext cx="20116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F1E8"/>
                </a:solidFill>
                <a:latin typeface="Inter"/>
                <a:ea typeface="Noto Sans CJK T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1344" y="3291840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60">
                <a:solidFill>
                  <a:srgbClr val="C6CDBD"/>
                </a:solidFill>
                <a:latin typeface="Inter"/>
                <a:ea typeface="Noto Sans CJK TC"/>
              </a:rPr>
              <a:t>午後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81344" y="3749039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5F1E8"/>
                </a:solidFill>
                <a:latin typeface="Noto Sans CJK TC"/>
                <a:ea typeface="Noto Sans CJK TC"/>
              </a:rPr>
              <a:t>鴉片粉圓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1344" y="4590288"/>
            <a:ext cx="26151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6CDBD"/>
                </a:solidFill>
                <a:latin typeface="Noto Sans CJK TC"/>
                <a:ea typeface="Noto Sans CJK TC"/>
              </a:rPr>
              <a:t>粉圓冰／綜合冰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1344" y="5120640"/>
            <a:ext cx="26517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F0B39E"/>
                </a:solidFill>
                <a:latin typeface="Liberation Serif"/>
                <a:ea typeface="Noto Sans CJK TC"/>
              </a:rPr>
              <a:t>NT$65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97696" y="2532888"/>
            <a:ext cx="457200" cy="457200"/>
          </a:xfrm>
          <a:prstGeom prst="rect">
            <a:avLst/>
          </a:prstGeom>
          <a:solidFill>
            <a:srgbClr val="DE4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2596896"/>
            <a:ext cx="20116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F1E8"/>
                </a:solidFill>
                <a:latin typeface="Inter"/>
                <a:ea typeface="Noto Sans CJK TC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97696" y="3291840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60">
                <a:solidFill>
                  <a:srgbClr val="C6CDBD"/>
                </a:solidFill>
                <a:latin typeface="Inter"/>
                <a:ea typeface="Noto Sans CJK TC"/>
              </a:rPr>
              <a:t>夜晚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97696" y="3749039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5F1E8"/>
                </a:solidFill>
                <a:latin typeface="Noto Sans CJK TC"/>
                <a:ea typeface="Noto Sans CJK TC"/>
              </a:rPr>
              <a:t>口碑鹹酥雞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97696" y="4590288"/>
            <a:ext cx="26151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6CDBD"/>
                </a:solidFill>
                <a:latin typeface="Noto Sans CJK TC"/>
                <a:ea typeface="Noto Sans CJK TC"/>
              </a:rPr>
              <a:t>鹹酥雞，按食量加減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97696" y="5120640"/>
            <a:ext cx="26517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F0B39E"/>
                </a:solidFill>
                <a:latin typeface="Liberation Serif"/>
                <a:ea typeface="Noto Sans CJK TC"/>
              </a:rPr>
              <a:t>NT$85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852160"/>
            <a:ext cx="11064240" cy="384048"/>
          </a:xfrm>
          <a:prstGeom prst="rect">
            <a:avLst/>
          </a:prstGeom>
          <a:solidFill>
            <a:srgbClr val="294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925312"/>
            <a:ext cx="10698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5F1E8"/>
                </a:solidFill>
                <a:latin typeface="Noto Sans CJK TC"/>
                <a:ea typeface="Noto Sans CJK TC"/>
              </a:rPr>
              <a:t>四站人均估算合計約 NT$380；不含交通、加點。先核對休息日，再決定行唔行。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60">
                <a:solidFill>
                  <a:srgbClr val="777D59"/>
                </a:solidFill>
                <a:latin typeface="Inter"/>
                <a:ea typeface="Noto Sans CJK TC"/>
              </a:rPr>
              <a:t>08  /  USE THE WEBSITE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183E35"/>
                </a:solidFill>
                <a:latin typeface="Liberation Serif"/>
                <a:ea typeface="Noto Sans CJK TC"/>
              </a:rPr>
              <a:t>Less scrolling. More eating.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149047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43A32"/>
                </a:solidFill>
                <a:latin typeface="Noto Sans CJK TC"/>
                <a:ea typeface="Noto Sans CJK TC"/>
              </a:rPr>
              <a:t>先縮細清單，再打開地圖確認；唔好淨係睇個「營業中」。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8890">
            <a:solidFill>
              <a:srgbClr val="D8D4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51052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77D59"/>
                </a:solidFill>
                <a:latin typeface="Noto Sans CJK TC"/>
                <a:ea typeface="Noto Sans CJK TC"/>
              </a:rPr>
              <a:t>圓通食堂  /  人均為指南估算；營業時間及評分並非即時核實資料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77D59"/>
                </a:solidFill>
                <a:latin typeface="Inter"/>
                <a:ea typeface="Noto Sans CJK TC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4828032" cy="3995928"/>
          </a:xfrm>
          <a:prstGeom prst="rect">
            <a:avLst/>
          </a:prstGeom>
          <a:solidFill>
            <a:srgbClr val="E7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450592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60">
                <a:solidFill>
                  <a:srgbClr val="777D59"/>
                </a:solidFill>
                <a:latin typeface="Inter"/>
                <a:ea typeface="Noto Sans CJK TC"/>
              </a:rPr>
              <a:t>A SIMPLE WAY TO CHOOSE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2907792"/>
            <a:ext cx="4279392" cy="502920"/>
          </a:xfrm>
          <a:prstGeom prst="roundRect">
            <a:avLst>
              <a:gd name="adj" fmla="val 8000"/>
            </a:avLst>
          </a:prstGeom>
          <a:solidFill>
            <a:srgbClr val="183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008376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5F1E8"/>
                </a:solidFill>
                <a:latin typeface="Noto Sans CJK TC"/>
                <a:ea typeface="Noto Sans CJK TC"/>
              </a:rPr>
              <a:t>圓通宿舍美食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" y="3602736"/>
            <a:ext cx="4279392" cy="502920"/>
          </a:xfrm>
          <a:prstGeom prst="roundRect">
            <a:avLst>
              <a:gd name="adj" fmla="val 8000"/>
            </a:avLst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70332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83E35"/>
                </a:solidFill>
                <a:latin typeface="Noto Sans CJK TC"/>
                <a:ea typeface="Noto Sans CJK TC"/>
              </a:rPr>
              <a:t>嘢食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" y="4297680"/>
            <a:ext cx="4279392" cy="502920"/>
          </a:xfrm>
          <a:prstGeom prst="roundRect">
            <a:avLst>
              <a:gd name="adj" fmla="val 8000"/>
            </a:avLst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39826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83E35"/>
                </a:solidFill>
                <a:latin typeface="Noto Sans CJK TC"/>
                <a:ea typeface="Noto Sans CJK TC"/>
              </a:rPr>
              <a:t>人均價錢 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5175504"/>
            <a:ext cx="429768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77D59"/>
                </a:solidFill>
                <a:latin typeface="Noto Sans CJK TC"/>
                <a:ea typeface="Noto Sans CJK TC"/>
              </a:rPr>
              <a:t>介面流程示意 · 先縮細清單再揀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5541264"/>
            <a:ext cx="42976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83E35"/>
                </a:solidFill>
                <a:latin typeface="Noto Sans CJK TC"/>
                <a:ea typeface="Noto Sans CJK TC"/>
              </a:rPr>
              <a:t>資料未定 ≠ 一定休息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83E35"/>
                </a:solidFill>
                <a:latin typeface="Noto Sans CJK TC"/>
                <a:ea typeface="Noto Sans CJK TC"/>
              </a:rPr>
              <a:t>有結果 ≠ 保證今日有開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33872" y="2276856"/>
            <a:ext cx="5715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3E35"/>
                </a:solidFill>
                <a:latin typeface="Noto Sans CJK TC"/>
                <a:ea typeface="Noto Sans CJK TC"/>
              </a:rPr>
              <a:t>01  地區 × 種類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33872" y="2734056"/>
            <a:ext cx="5715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43A32"/>
                </a:solidFill>
                <a:latin typeface="Noto Sans CJK TC"/>
                <a:ea typeface="Noto Sans CJK TC"/>
              </a:rPr>
              <a:t>地區及種類可多選；按人均或推薦指數排序。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833872" y="3099816"/>
            <a:ext cx="5715000" cy="0"/>
          </a:xfrm>
          <a:prstGeom prst="line">
            <a:avLst/>
          </a:prstGeom>
          <a:ln w="8890">
            <a:solidFill>
              <a:srgbClr val="D8D4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833872" y="3236976"/>
            <a:ext cx="5715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3E35"/>
                </a:solidFill>
                <a:latin typeface="Noto Sans CJK TC"/>
                <a:ea typeface="Noto Sans CJK TC"/>
              </a:rPr>
              <a:t>02  搜尋與地圖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33872" y="3694176"/>
            <a:ext cx="5715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43A32"/>
                </a:solidFill>
                <a:latin typeface="Noto Sans CJK TC"/>
                <a:ea typeface="Noto Sans CJK TC"/>
              </a:rPr>
              <a:t>搜尋店名、招牌或街道；撳地址開 Google Map。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33872" y="4059936"/>
            <a:ext cx="5715000" cy="0"/>
          </a:xfrm>
          <a:prstGeom prst="line">
            <a:avLst/>
          </a:prstGeom>
          <a:ln w="8890">
            <a:solidFill>
              <a:srgbClr val="D8D4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833872" y="4197096"/>
            <a:ext cx="5715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3E35"/>
                </a:solidFill>
                <a:latin typeface="Noto Sans CJK TC"/>
                <a:ea typeface="Noto Sans CJK TC"/>
              </a:rPr>
              <a:t>03  依家營業緊？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33872" y="4654296"/>
            <a:ext cx="5715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43A32"/>
                </a:solidFill>
                <a:latin typeface="Noto Sans CJK TC"/>
                <a:ea typeface="Noto Sans CJK TC"/>
              </a:rPr>
              <a:t>按資料內時間推算，非店家即時回報；出門再確認。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833872" y="5020056"/>
            <a:ext cx="5715000" cy="0"/>
          </a:xfrm>
          <a:prstGeom prst="line">
            <a:avLst/>
          </a:prstGeom>
          <a:ln w="8890">
            <a:solidFill>
              <a:srgbClr val="D8D4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833872" y="5157216"/>
            <a:ext cx="5715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3E35"/>
                </a:solidFill>
                <a:latin typeface="Noto Sans CJK TC"/>
                <a:ea typeface="Noto Sans CJK TC"/>
              </a:rPr>
              <a:t>04  生活圈地圖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33872" y="5614416"/>
            <a:ext cx="5715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43A32"/>
                </a:solidFill>
                <a:latin typeface="Noto Sans CJK TC"/>
                <a:ea typeface="Noto Sans CJK TC"/>
              </a:rPr>
              <a:t>點選聚落睇推介，再確認實際位置與交通。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60">
                <a:solidFill>
                  <a:srgbClr val="777D59"/>
                </a:solidFill>
                <a:latin typeface="Inter"/>
                <a:ea typeface="Noto Sans CJK TC"/>
              </a:rPr>
              <a:t>09  /  BEFORE YOU 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183E35"/>
                </a:solidFill>
                <a:latin typeface="Liberation Serif"/>
                <a:ea typeface="Noto Sans CJK TC"/>
              </a:rPr>
              <a:t>Eat curious. Check first.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149047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43A32"/>
                </a:solidFill>
                <a:latin typeface="Noto Sans CJK TC"/>
                <a:ea typeface="Noto Sans CJK TC"/>
              </a:rPr>
              <a:t>食之前做少少功課，食嘅時候就慢慢享受。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8890">
            <a:solidFill>
              <a:srgbClr val="D8D4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51052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77D59"/>
                </a:solidFill>
                <a:latin typeface="Noto Sans CJK TC"/>
                <a:ea typeface="Noto Sans CJK TC"/>
              </a:rPr>
              <a:t>圓通食堂  /  人均為指南估算；營業時間及評分並非即時核實資料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77D59"/>
                </a:solidFill>
                <a:latin typeface="Inter"/>
                <a:ea typeface="Noto Sans CJK TC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21992"/>
            <a:ext cx="4050791" cy="3931920"/>
          </a:xfrm>
          <a:prstGeom prst="rect">
            <a:avLst/>
          </a:prstGeom>
          <a:solidFill>
            <a:srgbClr val="183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606040"/>
            <a:ext cx="3520440" cy="1435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5F1E8"/>
                </a:solidFill>
                <a:latin typeface="Noto Sans CJK TC"/>
                <a:ea typeface="Noto Sans CJK TC"/>
              </a:rPr>
              <a:t>一份指南，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5F1E8"/>
                </a:solidFill>
                <a:latin typeface="Noto Sans CJK TC"/>
                <a:ea typeface="Noto Sans CJK TC"/>
              </a:rPr>
              <a:t>唔係保證。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773168"/>
            <a:ext cx="3337560" cy="905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D7DECE"/>
                </a:solidFill>
                <a:latin typeface="Noto Sans CJK TC"/>
                <a:ea typeface="Noto Sans CJK TC"/>
              </a:rPr>
              <a:t>留返肚餓，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D7DECE"/>
                </a:solidFill>
                <a:latin typeface="Noto Sans CJK TC"/>
                <a:ea typeface="Noto Sans CJK TC"/>
              </a:rPr>
              <a:t>畀下一條街。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57216" y="2221992"/>
            <a:ext cx="6355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3E35"/>
                </a:solidFill>
                <a:latin typeface="Noto Sans CJK TC"/>
                <a:ea typeface="Noto Sans CJK TC"/>
              </a:rPr>
              <a:t>出發前再確認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57216" y="2651760"/>
            <a:ext cx="635508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43A32"/>
                </a:solidFill>
                <a:latin typeface="Noto Sans CJK TC"/>
                <a:ea typeface="Noto Sans CJK TC"/>
              </a:rPr>
              <a:t>地址、休息日、供應狀況同價錢，以店家最新公告為準。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57216" y="3191256"/>
            <a:ext cx="6355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3E35"/>
                </a:solidFill>
                <a:latin typeface="Noto Sans CJK TC"/>
                <a:ea typeface="Noto Sans CJK TC"/>
              </a:rPr>
              <a:t>推薦指數要識睇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57216" y="3621024"/>
            <a:ext cx="635508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43A32"/>
                </a:solidFill>
                <a:latin typeface="Noto Sans CJK TC"/>
                <a:ea typeface="Noto Sans CJK TC"/>
              </a:rPr>
              <a:t>屬指南主觀參考，唔係即時 Google 評分或品質保證。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160520"/>
            <a:ext cx="6355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3E35"/>
                </a:solidFill>
                <a:latin typeface="Noto Sans CJK TC"/>
                <a:ea typeface="Noto Sans CJK TC"/>
              </a:rPr>
              <a:t>照片係示意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90288"/>
            <a:ext cx="635508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43A32"/>
                </a:solidFill>
                <a:latin typeface="Noto Sans CJK TC"/>
                <a:ea typeface="Noto Sans CJK TC"/>
              </a:rPr>
              <a:t>圖片來自專案 assets；未逐店配對，亦未核實授權鏈。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157216" y="5202936"/>
            <a:ext cx="6355080" cy="0"/>
          </a:xfrm>
          <a:prstGeom prst="line">
            <a:avLst/>
          </a:prstGeom>
          <a:ln w="8890">
            <a:solidFill>
              <a:srgbClr val="D8D4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157216" y="5440680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60">
                <a:solidFill>
                  <a:srgbClr val="DE4932"/>
                </a:solidFill>
                <a:latin typeface="Inter"/>
                <a:ea typeface="Noto Sans CJK TC"/>
              </a:rPr>
              <a:t>SOURCE 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7216" y="5751576"/>
            <a:ext cx="6400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77D59"/>
                </a:solidFill>
                <a:latin typeface="Noto Sans CJK TC"/>
                <a:ea typeface="Noto Sans CJK TC"/>
              </a:rPr>
              <a:t>以 app.js 的 88 筆條目、4 區資料為底稿；部分宿舍推介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77D59"/>
                </a:solidFill>
                <a:latin typeface="Noto Sans CJK TC"/>
                <a:ea typeface="Noto Sans CJK TC"/>
              </a:rPr>
              <a:t>由原指南整理 Dcard《#文長 給新生們-台北圓通雅筑宿舍攻略》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77D59"/>
                </a:solidFill>
                <a:latin typeface="Noto Sans CJK TC"/>
                <a:ea typeface="Noto Sans CJK TC"/>
              </a:rPr>
              <a:t>及留言。本簡報為編輯選讀，未重新查證店況或試食。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Taipei Gourmet / 圓通食堂</dc:title>
  <dc:subject>An editorial food field guide for the Yuantong and NTU neighborhoods</dc:subject>
  <dc:creator>Taipei Gourmet</dc:creator>
  <cp:keywords>Taipei, 圓通食堂, Traditional Chinese, editable, guide estimates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