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資料來源：原指南 app.js 店舖資料及 data/bib-gourmand.json 的台北、新北歷屆必比登核實紀錄。人均為原指南估算，不是單品現價；新增必比登未知價格及營業時間留空。必比登只屬來源所列店家，不自動延伸到同品牌分店；未列年份不代表未獲獎。出發前請向店家確認地址、營業安排及價格。照片只採可核實及授權的指定店家照片，均標記拍攝年份。</a:t>
            </a:r>
          </a:p>
          <a:p>
            <a:r>
              <a:t>阜杭豆漿 (2024): Hauskyg YWICAORP; CC0 1.0; http://creativecommons.org/publicdomain/zero/1.0/deed.en; https://commons.wikimedia.org/wiki/File:TW_TP_%E5%8F%B0%E5%8C%97_Taipei_%E8%8F%AF%E5%B1%B1%E5%B8%82%E5%A0%B4_HauShan_Market_Food_Court_%E9%98%9C%E6%9D%AD%E8%B1%86%E6%B5%86%E5%BA%97_Fu_Hang_Soy_Milk_Congee_Breakfast_shop_March_2024_R12S_132.jpg; Resized; may be cropped by the page layout.</a:t>
            </a:r>
          </a:p>
          <a:p>
            <a:r>
              <a:t>永康牛肉麵 (2006): Minghong; CC BY-SA 4.0; https://creativecommons.org/licenses/by-sa/4.0; https://commons.wikimedia.org/wiki/File:Yong_Kang_Beef_Noodle_1.jpg; Resized; may be cropped by the page layout. This image adaptation remains under CC BY-SA 4.0.</a:t>
            </a:r>
          </a:p>
          <a:p>
            <a:r>
              <a:t>藍家割包 (2007): 竹筍弟弟 / JeanHavoc; Copyrighted free use; https://commons.wikimedia.org/wiki/File:GeBao.JPG; https://commons.wikimedia.org/wiki/File:GeBao.JPG; Resized from the Commons preview; may be cropped by the page layout.</a:t>
            </a:r>
          </a:p>
          <a:p/>
          <a:p>
            <a:r>
              <a:t>封面為已核實永康牛肉麵 2006 年照片，非目前份量或菜單保證。作者 Minghong，採 CC BY-SA 4.0，已縮圖及裁切；來源與完整授權見本頁備註。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資料來源：原指南 app.js 店舖資料及 data/bib-gourmand.json 的台北、新北歷屆必比登核實紀錄。人均為原指南估算，不是單品現價；新增必比登未知價格及營業時間留空。必比登只屬來源所列店家，不自動延伸到同品牌分店；未列年份不代表未獲獎。出發前請向店家確認地址、營業安排及價格。照片只採可核實及授權的指定店家照片，均標記拍攝年份。</a:t>
            </a:r>
          </a:p>
          <a:p>
            <a:r>
              <a:t>阜杭豆漿 (2024): Hauskyg YWICAORP; CC0 1.0; http://creativecommons.org/publicdomain/zero/1.0/deed.en; https://commons.wikimedia.org/wiki/File:TW_TP_%E5%8F%B0%E5%8C%97_Taipei_%E8%8F%AF%E5%B1%B1%E5%B8%82%E5%A0%B4_HauShan_Market_Food_Court_%E9%98%9C%E6%9D%AD%E8%B1%86%E6%B5%86%E5%BA%97_Fu_Hang_Soy_Milk_Congee_Breakfast_shop_March_2024_R12S_132.jpg; Resized; may be cropped by the page layout.</a:t>
            </a:r>
          </a:p>
          <a:p>
            <a:r>
              <a:t>永康牛肉麵 (2006): Minghong; CC BY-SA 4.0; https://creativecommons.org/licenses/by-sa/4.0; https://commons.wikimedia.org/wiki/File:Yong_Kang_Beef_Noodle_1.jpg; Resized; may be cropped by the page layout. This image adaptation remains under CC BY-SA 4.0.</a:t>
            </a:r>
          </a:p>
          <a:p>
            <a:r>
              <a:t>藍家割包 (2007): 竹筍弟弟 / JeanHavoc; Copyrighted free use; https://commons.wikimedia.org/wiki/File:GeBao.JPG; https://commons.wikimedia.org/wiki/File:GeBao.JPG; Resized from the Commons preview; may be cropped by the page layout.</a:t>
            </a:r>
          </a:p>
          <a:p/>
          <a:p>
            <a:r>
              <a:t>總條目 194，原指南88筆加上未重複的必比登條目。2026現屆 55 家；曾入選但非現屆 57 家。相片 3 張逐店核實，其他店不使用示意照片代替。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資料來源：原指南 app.js 店舖資料及 data/bib-gourmand.json 的台北、新北歷屆必比登核實紀錄。人均為原指南估算，不是單品現價；新增必比登未知價格及營業時間留空。必比登只屬來源所列店家，不自動延伸到同品牌分店；未列年份不代表未獲獎。出發前請向店家確認地址、營業安排及價格。照片只採可核實及授權的指定店家照片，均標記拍攝年份。</a:t>
            </a:r>
          </a:p>
          <a:p>
            <a:r>
              <a:t>阜杭豆漿 (2024): Hauskyg YWICAORP; CC0 1.0; http://creativecommons.org/publicdomain/zero/1.0/deed.en; https://commons.wikimedia.org/wiki/File:TW_TP_%E5%8F%B0%E5%8C%97_Taipei_%E8%8F%AF%E5%B1%B1%E5%B8%82%E5%A0%B4_HauShan_Market_Food_Court_%E9%98%9C%E6%9D%AD%E8%B1%86%E6%B5%86%E5%BA%97_Fu_Hang_Soy_Milk_Congee_Breakfast_shop_March_2024_R12S_132.jpg; Resized; may be cropped by the page layout.</a:t>
            </a:r>
          </a:p>
          <a:p>
            <a:r>
              <a:t>永康牛肉麵 (2006): Minghong; CC BY-SA 4.0; https://creativecommons.org/licenses/by-sa/4.0; https://commons.wikimedia.org/wiki/File:Yong_Kang_Beef_Noodle_1.jpg; Resized; may be cropped by the page layout. This image adaptation remains under CC BY-SA 4.0.</a:t>
            </a:r>
          </a:p>
          <a:p>
            <a:r>
              <a:t>藍家割包 (2007): 竹筍弟弟 / JeanHavoc; Copyrighted free use; https://commons.wikimedia.org/wiki/File:GeBao.JPG; https://commons.wikimedia.org/wiki/File:GeBao.JPG; Resized from the Commons preview; may be cropped by the page layout.</a:t>
            </a:r>
          </a:p>
          <a:p/>
          <a:p>
            <a:r>
              <a:t>生活圈沿用原指南四區，新增雙北必比登列入其他區；必比登與城市可獨立篩選。此頁價格範圍只涵蓋原指南已有人均數值者，不含新增未核價店家。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資料來源：原指南 app.js 店舖資料及 data/bib-gourmand.json 的台北、新北歷屆必比登核實紀錄。人均為原指南估算，不是單品現價；新增必比登未知價格及營業時間留空。必比登只屬來源所列店家，不自動延伸到同品牌分店；未列年份不代表未獲獎。出發前請向店家確認地址、營業安排及價格。照片只採可核實及授權的指定店家照片，均標記拍攝年份。</a:t>
            </a:r>
          </a:p>
          <a:p>
            <a:r>
              <a:t>阜杭豆漿 (2024): Hauskyg YWICAORP; CC0 1.0; http://creativecommons.org/publicdomain/zero/1.0/deed.en; https://commons.wikimedia.org/wiki/File:TW_TP_%E5%8F%B0%E5%8C%97_Taipei_%E8%8F%AF%E5%B1%B1%E5%B8%82%E5%A0%B4_HauShan_Market_Food_Court_%E9%98%9C%E6%9D%AD%E8%B1%86%E6%B5%86%E5%BA%97_Fu_Hang_Soy_Milk_Congee_Breakfast_shop_March_2024_R12S_132.jpg; Resized; may be cropped by the page layout.</a:t>
            </a:r>
          </a:p>
          <a:p>
            <a:r>
              <a:t>永康牛肉麵 (2006): Minghong; CC BY-SA 4.0; https://creativecommons.org/licenses/by-sa/4.0; https://commons.wikimedia.org/wiki/File:Yong_Kang_Beef_Noodle_1.jpg; Resized; may be cropped by the page layout. This image adaptation remains under CC BY-SA 4.0.</a:t>
            </a:r>
          </a:p>
          <a:p>
            <a:r>
              <a:t>藍家割包 (2007): 竹筍弟弟 / JeanHavoc; Copyrighted free use; https://commons.wikimedia.org/wiki/File:GeBao.JPG; https://commons.wikimedia.org/wiki/File:GeBao.JPG; Resized from the Commons preview; may be cropped by the page layout.</a:t>
            </a:r>
          </a:p>
          <a:p/>
          <a:p>
            <a:r>
              <a:t>此頁為編輯建議順序，不保證途經台北車站，亦不描述可通行的航廈區域或機場店家現況。價格取自小王煮瓜 桃園機場 T2（p=120）、台鐵便當 台北車站（p=100）。無加入未经核實之車費或行車時間。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資料來源：原指南 app.js 店舖資料及 data/bib-gourmand.json 的台北、新北歷屆必比登核實紀錄。人均為原指南估算，不是單品現價；新增必比登未知價格及營業時間留空。必比登只屬來源所列店家，不自動延伸到同品牌分店；未列年份不代表未獲獎。出發前請向店家確認地址、營業安排及價格。照片只採可核實及授權的指定店家照片，均標記拍攝年份。</a:t>
            </a:r>
          </a:p>
          <a:p>
            <a:r>
              <a:t>阜杭豆漿 (2024): Hauskyg YWICAORP; CC0 1.0; http://creativecommons.org/publicdomain/zero/1.0/deed.en; https://commons.wikimedia.org/wiki/File:TW_TP_%E5%8F%B0%E5%8C%97_Taipei_%E8%8F%AF%E5%B1%B1%E5%B8%82%E5%A0%B4_HauShan_Market_Food_Court_%E9%98%9C%E6%9D%AD%E8%B1%86%E6%B5%86%E5%BA%97_Fu_Hang_Soy_Milk_Congee_Breakfast_shop_March_2024_R12S_132.jpg; Resized; may be cropped by the page layout.</a:t>
            </a:r>
          </a:p>
          <a:p>
            <a:r>
              <a:t>永康牛肉麵 (2006): Minghong; CC BY-SA 4.0; https://creativecommons.org/licenses/by-sa/4.0; https://commons.wikimedia.org/wiki/File:Yong_Kang_Beef_Noodle_1.jpg; Resized; may be cropped by the page layout. This image adaptation remains under CC BY-SA 4.0.</a:t>
            </a:r>
          </a:p>
          <a:p>
            <a:r>
              <a:t>藍家割包 (2007): 竹筍弟弟 / JeanHavoc; Copyrighted free use; https://commons.wikimedia.org/wiki/File:GeBao.JPG; https://commons.wikimedia.org/wiki/File:GeBao.JPG; Resized from the Commons preview; may be cropped by the page layout.</a:t>
            </a:r>
          </a:p>
          <a:p/>
          <a:p>
            <a:r>
              <a:t>四筆精選均來自 z=yt，p 依次 60、90、170、85。全部有 dc=1 標記；該標記來自指南對 Dcard 文章及留言的整理，未重新核實作者體驗或店家現況。地址為原資料摘錄。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資料來源：原指南 app.js 店舖資料及 data/bib-gourmand.json 的台北、新北歷屆必比登核實紀錄。人均為原指南估算，不是單品現價；新增必比登未知價格及營業時間留空。必比登只屬來源所列店家，不自動延伸到同品牌分店；未列年份不代表未獲獎。出發前請向店家確認地址、營業安排及價格。照片只採可核實及授權的指定店家照片，均標記拍攝年份。</a:t>
            </a:r>
          </a:p>
          <a:p>
            <a:r>
              <a:t>阜杭豆漿 (2024): Hauskyg YWICAORP; CC0 1.0; http://creativecommons.org/publicdomain/zero/1.0/deed.en; https://commons.wikimedia.org/wiki/File:TW_TP_%E5%8F%B0%E5%8C%97_Taipei_%E8%8F%AF%E5%B1%B1%E5%B8%82%E5%A0%B4_HauShan_Market_Food_Court_%E9%98%9C%E6%9D%AD%E8%B1%86%E6%B5%86%E5%BA%97_Fu_Hang_Soy_Milk_Congee_Breakfast_shop_March_2024_R12S_132.jpg; Resized; may be cropped by the page layout.</a:t>
            </a:r>
          </a:p>
          <a:p>
            <a:r>
              <a:t>永康牛肉麵 (2006): Minghong; CC BY-SA 4.0; https://creativecommons.org/licenses/by-sa/4.0; https://commons.wikimedia.org/wiki/File:Yong_Kang_Beef_Noodle_1.jpg; Resized; may be cropped by the page layout. This image adaptation remains under CC BY-SA 4.0.</a:t>
            </a:r>
          </a:p>
          <a:p>
            <a:r>
              <a:t>藍家割包 (2007): 竹筍弟弟 / JeanHavoc; Copyrighted free use; https://commons.wikimedia.org/wiki/File:GeBao.JPG; https://commons.wikimedia.org/wiki/File:GeBao.JPG; Resized from the Commons preview; may be cropped by the page layout.</a:t>
            </a:r>
          </a:p>
          <a:p/>
          <a:p>
            <a:r>
              <a:t>四筆精選均來自 z=ntu，p 依次 60、90、170、65。餐點介紹以 s 招牌欄為依據，語氣為編輯改寫；並非作者實地試食記錄。照片來源明確指向公館藍家割包，攝於2007年；不代表其他三間店，也不是現在的菜單或份量保證。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資料來源：原指南 app.js 店舖資料及 data/bib-gourmand.json 的台北、新北歷屆必比登核實紀錄。人均為原指南估算，不是單品現價；新增必比登未知價格及營業時間留空。必比登只屬來源所列店家，不自動延伸到同品牌分店；未列年份不代表未獲獎。出發前請向店家確認地址、營業安排及價格。照片只採可核實及授權的指定店家照片，均標記拍攝年份。</a:t>
            </a:r>
          </a:p>
          <a:p>
            <a:r>
              <a:t>阜杭豆漿 (2024): Hauskyg YWICAORP; CC0 1.0; http://creativecommons.org/publicdomain/zero/1.0/deed.en; https://commons.wikimedia.org/wiki/File:TW_TP_%E5%8F%B0%E5%8C%97_Taipei_%E8%8F%AF%E5%B1%B1%E5%B8%82%E5%A0%B4_HauShan_Market_Food_Court_%E9%98%9C%E6%9D%AD%E8%B1%86%E6%B5%86%E5%BA%97_Fu_Hang_Soy_Milk_Congee_Breakfast_shop_March_2024_R12S_132.jpg; Resized; may be cropped by the page layout.</a:t>
            </a:r>
          </a:p>
          <a:p>
            <a:r>
              <a:t>永康牛肉麵 (2006): Minghong; CC BY-SA 4.0; https://creativecommons.org/licenses/by-sa/4.0; https://commons.wikimedia.org/wiki/File:Yong_Kang_Beef_Noodle_1.jpg; Resized; may be cropped by the page layout. This image adaptation remains under CC BY-SA 4.0.</a:t>
            </a:r>
          </a:p>
          <a:p>
            <a:r>
              <a:t>藍家割包 (2007): 竹筍弟弟 / JeanHavoc; Copyrighted free use; https://commons.wikimedia.org/wiki/File:GeBao.JPG; https://commons.wikimedia.org/wiki/File:GeBao.JPG; Resized from the Commons preview; may be cropped by the page layout.</a:t>
            </a:r>
          </a:p>
          <a:p>
            <a:r>
              <a:t>阜杭豆漿: {"years": [2018, 2019, 2020, 2021, 2022], "current": false, "sources": [{"years": [2022], "url": "https://robert-parker-michelin-global-prod.s3.amazonaws.com/media/pdf/FINAL_CN_MSR+TTTK_Bib+Gourmand+Press+Release-Bib+Full+List.pdf?utm_source=FB&amp;utm_medium=Website&amp;utm_campaign=TW+Bib+G+2022", "title": "MICHELIN Guide 2022 必比登推介官方完整名單，臺北第1至3頁"}, {"years": [2018], "url": "https://d3h1lg3ksw6i6b.cloudfront.net/media/pdf/Michelin%20Guide%20Taipei%202018%20Bib%20Gourmand%20Table.pdf", "title": "MICHELIN Guide Taipei 2018 Bib Gourmand Selection 官方完整表"}, {"years": [2018], "url": "https://www.vogue.com.tw/feature/content-39114", "title": "Vogue：2018臺北米其林指南必比登推介36間完整名單"}, {"years": [2019], "url": "https://whitneyblog.com/post-46620921/", "title": "平心而論：2019台北必比登推介58間完整名單與地址"}, {"years": [2020], "url": "https://style.udn.com/style/story/8077/4772314", "title": "聯合報：2020米其林必比登完整名單，臺北54間"}, {"years": [2021], "url": "https://udn.com/news/story/11893/5665578", "title": "聯合報：2021米其林必比登完整名單，臺北58間"}, {"years": [2022], "url": "https://www.vogue.com.tw/lifestyle/article/michelin-guide-2022-bib-gourmand", "title": "Vogue：2022必比登推介完整名單，臺北57間"}, {"years": [2018], "url": "https://whitneyblog.com/post-45720471/", "title": "2018臺北必比登完整名單及精確分店地址（附2019更新）"}]}</a:t>
            </a:r>
          </a:p>
          <a:p>
            <a:r>
              <a:t>永康牛肉麵: {"years": [2018, 2019, 2020, 2021, 2022], "current": false, "sources": [{"years": [2022], "url": "https://robert-parker-michelin-global-prod.s3.amazonaws.com/media/pdf/FINAL_CN_MSR+TTTK_Bib+Gourmand+Press+Release-Bib+Full+List.pdf?utm_source=FB&amp;utm_medium=Website&amp;utm_campaign=TW+Bib+G+2022", "title": "MICHELIN Guide 2022 必比登推介官方完整名單，臺北第1至3頁"}, {"years": [2018], "url": "https://d3h1lg3ksw6i6b.cloudfront.net/media/pdf/Michelin%20Guide%20Taipei%202018%20Bib%20Gourmand%20Table.pdf", "title": "MICHELIN Guide Taipei 2018 Bib Gourmand Selection 官方完整表"}, {"years": [2018], "url": "https://www.vogue.com.tw/feature/content-39114", "title": "Vogue：2018臺北米其林指南必比登推介36間完整名單"}, {"years": [2019], "url": "https://whitneyblog.com/post-46620921/", "title": "平心而論：2019台北必比登推介58間完整名單與地址"}, {"years": [2020], "url": "https://style.udn.com/style/story/8077/4772314", "title": "聯合報：2020米其林必比登完整名單，臺北54間"}, {"years": [2021], "url": "https://udn.com/news/story/11893/5665578", "title": "聯合報：2021米其林必比登完整名單，臺北58間"}, {"years": [2022], "url": "https://www.vogue.com.tw/lifestyle/article/michelin-guide-2022-bib-gourmand", "title": "Vogue：2022必比登推介完整名單，臺北57間"}, {"years": [2018], "url": "https://whitneyblog.com/post-45720471/", "title": "2018臺北必比登完整名單及精確分店地址（附2019更新）"}]}</a:t>
            </a:r>
          </a:p>
          <a:p>
            <a:r>
              <a:t>藍家割包: {"years": [2019, 2020, 2021], "current": false, "sources": [{"years": [2019], "url": "https://whitneyblog.com/post-46620921/", "title": "平心而論：2019台北必比登推介58間完整名單與地址"}, {"years": [2020], "url": "https://style.udn.com/style/story/8077/4772314", "title": "聯合報：2020米其林必比登完整名單，臺北54間"}, {"years": [2021], "url": "https://udn.com/news/story/11893/5665578", "title": "聯合報：2021米其林必比登完整名單，臺北58間"}, {"years": [2019], "url": "https://guide.michelin.com/tw/zh_TW/article/news-and-views/michelin-guide-taipei-2019-bib-gourmand-selection-street-foods", "title": "MICHELIN Guide臺北2019：完整24家夜市街頭小吃"}, {"years": [2019], "url": "https://guide.michelin.com/en/article/news-and-views/michelin-guide-taipei-2019-bib-gourmand-selection-street-foods", "title": "MICHELIN Guide Taipei 2019: Complete 24 night-market Bib Gourmands, English names"}]}</a:t>
            </a:r>
          </a:p>
          <a:p>
            <a:r>
              <a:t>當年必比登並非今日營業保證；沒有把任意品牌分店當成獲獎店家。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資料來源：原指南 app.js 店舖資料及 data/bib-gourmand.json 的台北、新北歷屆必比登核實紀錄。人均為原指南估算，不是單品現價；新增必比登未知價格及營業時間留空。必比登只屬來源所列店家，不自動延伸到同品牌分店；未列年份不代表未獲獎。出發前請向店家確認地址、營業安排及價格。照片只採可核實及授權的指定店家照片，均標記拍攝年份。</a:t>
            </a:r>
          </a:p>
          <a:p>
            <a:r>
              <a:t>阜杭豆漿 (2024): Hauskyg YWICAORP; CC0 1.0; http://creativecommons.org/publicdomain/zero/1.0/deed.en; https://commons.wikimedia.org/wiki/File:TW_TP_%E5%8F%B0%E5%8C%97_Taipei_%E8%8F%AF%E5%B1%B1%E5%B8%82%E5%A0%B4_HauShan_Market_Food_Court_%E9%98%9C%E6%9D%AD%E8%B1%86%E6%B5%86%E5%BA%97_Fu_Hang_Soy_Milk_Congee_Breakfast_shop_March_2024_R12S_132.jpg; Resized; may be cropped by the page layout.</a:t>
            </a:r>
          </a:p>
          <a:p>
            <a:r>
              <a:t>永康牛肉麵 (2006): Minghong; CC BY-SA 4.0; https://creativecommons.org/licenses/by-sa/4.0; https://commons.wikimedia.org/wiki/File:Yong_Kang_Beef_Noodle_1.jpg; Resized; may be cropped by the page layout. This image adaptation remains under CC BY-SA 4.0.</a:t>
            </a:r>
          </a:p>
          <a:p>
            <a:r>
              <a:t>藍家割包 (2007): 竹筍弟弟 / JeanHavoc; Copyrighted free use; https://commons.wikimedia.org/wiki/File:GeBao.JPG; https://commons.wikimedia.org/wiki/File:GeBao.JPG; Resized from the Commons preview; may be cropped by the page layout.</a:t>
            </a:r>
          </a:p>
          <a:p/>
          <a:p>
            <a:r>
              <a:t>本頁明確為編輯建議，不是已核實旅程、交通導航或營業承諾。60+170+65+85=380，僅加總四筆 p 人均估算，並非指定單品報價。原資料中早貓、口碑鹹酥雞週日休；因此不應假定所有日期均可照行。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資料來源：原指南 app.js 店舖資料及 data/bib-gourmand.json 的台北、新北歷屆必比登核實紀錄。人均為原指南估算，不是單品現價；新增必比登未知價格及營業時間留空。必比登只屬來源所列店家，不自動延伸到同品牌分店；未列年份不代表未獲獎。出發前請向店家確認地址、營業安排及價格。照片只採可核實及授權的指定店家照片，均標記拍攝年份。</a:t>
            </a:r>
          </a:p>
          <a:p>
            <a:r>
              <a:t>阜杭豆漿 (2024): Hauskyg YWICAORP; CC0 1.0; http://creativecommons.org/publicdomain/zero/1.0/deed.en; https://commons.wikimedia.org/wiki/File:TW_TP_%E5%8F%B0%E5%8C%97_Taipei_%E8%8F%AF%E5%B1%B1%E5%B8%82%E5%A0%B4_HauShan_Market_Food_Court_%E9%98%9C%E6%9D%AD%E8%B1%86%E6%B5%86%E5%BA%97_Fu_Hang_Soy_Milk_Congee_Breakfast_shop_March_2024_R12S_132.jpg; Resized; may be cropped by the page layout.</a:t>
            </a:r>
          </a:p>
          <a:p>
            <a:r>
              <a:t>永康牛肉麵 (2006): Minghong; CC BY-SA 4.0; https://creativecommons.org/licenses/by-sa/4.0; https://commons.wikimedia.org/wiki/File:Yong_Kang_Beef_Noodle_1.jpg; Resized; may be cropped by the page layout. This image adaptation remains under CC BY-SA 4.0.</a:t>
            </a:r>
          </a:p>
          <a:p>
            <a:r>
              <a:t>藍家割包 (2007): 竹筍弟弟 / JeanHavoc; Copyrighted free use; https://commons.wikimedia.org/wiki/File:GeBao.JPG; https://commons.wikimedia.org/wiki/File:GeBao.JPG; Resized from the Commons preview; may be cropped by the page layout.</a:t>
            </a:r>
          </a:p>
          <a:p/>
          <a:p>
            <a:r>
              <a:t>功能依 app.js 核對：zone/kind 多選、p/r 雙向排序、openState 以台北時間依靜態 o 欄計算、地址 mapsUrl Google Maps 搜尋連結、生活圈 SPOTS 示意地圖。搜尋對應店名 n、地址 a、招牌 s。未見店舖收藏，不宣稱存在此功能。不展示星分，避免誤認為 Google 評分。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資料來源：原指南 app.js 店舖資料及 data/bib-gourmand.json 的台北、新北歷屆必比登核實紀錄。人均為原指南估算，不是單品現價；新增必比登未知價格及營業時間留空。必比登只屬來源所列店家，不自動延伸到同品牌分店；未列年份不代表未獲獎。出發前請向店家確認地址、營業安排及價格。照片只採可核實及授權的指定店家照片，均標記拍攝年份。</a:t>
            </a:r>
          </a:p>
          <a:p>
            <a:r>
              <a:t>阜杭豆漿 (2024): Hauskyg YWICAORP; CC0 1.0; http://creativecommons.org/publicdomain/zero/1.0/deed.en; https://commons.wikimedia.org/wiki/File:TW_TP_%E5%8F%B0%E5%8C%97_Taipei_%E8%8F%AF%E5%B1%B1%E5%B8%82%E5%A0%B4_HauShan_Market_Food_Court_%E9%98%9C%E6%9D%AD%E8%B1%86%E6%B5%86%E5%BA%97_Fu_Hang_Soy_Milk_Congee_Breakfast_shop_March_2024_R12S_132.jpg; Resized; may be cropped by the page layout.</a:t>
            </a:r>
          </a:p>
          <a:p>
            <a:r>
              <a:t>永康牛肉麵 (2006): Minghong; CC BY-SA 4.0; https://creativecommons.org/licenses/by-sa/4.0; https://commons.wikimedia.org/wiki/File:Yong_Kang_Beef_Noodle_1.jpg; Resized; may be cropped by the page layout. This image adaptation remains under CC BY-SA 4.0.</a:t>
            </a:r>
          </a:p>
          <a:p>
            <a:r>
              <a:t>藍家割包 (2007): 竹筍弟弟 / JeanHavoc; Copyrighted free use; https://commons.wikimedia.org/wiki/File:GeBao.JPG; https://commons.wikimedia.org/wiki/File:GeBao.JPG; Resized from the Commons preview; may be cropped by the page layout.</a:t>
            </a:r>
          </a:p>
          <a:p/>
          <a:p>
            <a:r>
              <a:t>原指南部分宿舍建議來自Dcard宿舍攻略及留言，未重新試食。必比登原始年度來源見 data/bib-gourmand.json；相片身分、作者、授權與修改方式見 data/restaurant-photos.json。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83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ongkang.jpg"/>
          <p:cNvPicPr>
            <a:picLocks noChangeAspect="1"/>
          </p:cNvPicPr>
          <p:nvPr/>
        </p:nvPicPr>
        <p:blipFill>
          <a:blip r:embed="rId2"/>
          <a:srcRect l="14333" r="14333"/>
          <a:stretch>
            <a:fillRect/>
          </a:stretch>
        </p:blipFill>
        <p:spPr>
          <a:xfrm>
            <a:off x="5669280" y="0"/>
            <a:ext cx="6522689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C6CDBD"/>
                </a:solidFill>
                <a:latin typeface="Inter"/>
                <a:ea typeface="Noto Sans CJK TC"/>
              </a:rPr>
              <a:t>TAIWAN  /  TAIPEI + NEW TAIPEI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960120"/>
            <a:ext cx="4480560" cy="0"/>
          </a:xfrm>
          <a:prstGeom prst="line">
            <a:avLst/>
          </a:prstGeom>
          <a:ln w="8890">
            <a:solidFill>
              <a:srgbClr val="5270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99032"/>
            <a:ext cx="5166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F5F1E8"/>
                </a:solidFill>
                <a:latin typeface="Liberation Serif"/>
                <a:ea typeface="Noto Sans CJK TC"/>
              </a:rPr>
              <a:t>Taiwan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F5F1E8"/>
                </a:solidFill>
                <a:latin typeface="Liberation Serif"/>
                <a:ea typeface="Noto Sans CJK TC"/>
              </a:rPr>
              <a:t>Gourmet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1E8"/>
                </a:solidFill>
                <a:latin typeface="Noto Sans CJK TC"/>
                <a:ea typeface="Noto Sans CJK TC"/>
              </a:rPr>
              <a:t>台灣美食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6451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DCE0D0"/>
                </a:solidFill>
                <a:latin typeface="Noto Sans CJK TC"/>
                <a:ea typeface="Noto Sans CJK TC"/>
              </a:rPr>
              <a:t>由落機嗰餐，到落堂嗰碗。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724144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E5B5A1"/>
                </a:solidFill>
                <a:latin typeface="Inter"/>
                <a:ea typeface="Noto Sans CJK TC"/>
              </a:rPr>
              <a:t>194 ENTRIES  ·  BIB GOURMAND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117336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6CDBD"/>
                </a:solidFill>
                <a:latin typeface="Noto Sans CJK TC"/>
                <a:ea typeface="Noto Sans CJK TC"/>
              </a:rPr>
              <a:t>台北・新北日常與歷屆必比登指南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6281928"/>
            <a:ext cx="4526280" cy="265176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6327648"/>
            <a:ext cx="43708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83E35"/>
                </a:solidFill>
                <a:latin typeface="Noto Sans CJK TC"/>
                <a:ea typeface="Noto Sans CJK TC"/>
              </a:rPr>
              <a:t>永康牛肉麵 · 2006 / Minghong · CC BY-SA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01  /  THE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Two cities, by appetite.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唔使一次食晒，先揀你今日想食嗰區。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台灣美食・雙北版 / 人均為原指南估算；歷史入選及照片不代表即時店況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02</a:t>
            </a:r>
          </a:p>
        </p:txBody>
      </p:sp>
      <p:pic>
        <p:nvPicPr>
          <p:cNvPr id="8" name="Picture 7" descr="lan-jia.jpg"/>
          <p:cNvPicPr>
            <a:picLocks noChangeAspect="1"/>
          </p:cNvPicPr>
          <p:nvPr/>
        </p:nvPicPr>
        <p:blipFill>
          <a:blip r:embed="rId3"/>
          <a:srcRect l="12139" r="12139"/>
          <a:stretch>
            <a:fillRect/>
          </a:stretch>
        </p:blipFill>
        <p:spPr>
          <a:xfrm>
            <a:off x="7772400" y="2148840"/>
            <a:ext cx="3840480" cy="38039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6044184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7D59"/>
                </a:solidFill>
                <a:latin typeface="Noto Sans CJK TC"/>
                <a:ea typeface="Noto Sans CJK TC"/>
              </a:rPr>
              <a:t>藍家割包 · 2007 / 竹筍弟弟 · 自由使用授權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01752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0">
                <a:solidFill>
                  <a:srgbClr val="DE4932"/>
                </a:solidFill>
                <a:latin typeface="Liberation Serif"/>
                <a:ea typeface="Noto Sans CJK TC"/>
              </a:rPr>
              <a:t>194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6576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83E35"/>
                </a:solidFill>
                <a:latin typeface="Noto Sans CJK TC"/>
                <a:ea typeface="Noto Sans CJK TC"/>
              </a:rPr>
              <a:t>筆美食條目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261104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77D59"/>
                </a:solidFill>
                <a:latin typeface="Noto Sans CJK TC"/>
                <a:ea typeface="Noto Sans CJK TC"/>
              </a:rPr>
              <a:t>店舖、攤位與美食街一齊收錄。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432304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183E35"/>
                </a:solidFill>
                <a:latin typeface="Liberation Serif"/>
                <a:ea typeface="Noto Sans CJK TC"/>
              </a:rPr>
              <a:t>NT$40–600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2095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3A32"/>
                </a:solidFill>
                <a:latin typeface="Noto Sans CJK TC"/>
                <a:ea typeface="Noto Sans CJK TC"/>
              </a:rPr>
              <a:t>原指南人均估算範圍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6850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77D59"/>
                </a:solidFill>
                <a:latin typeface="Noto Sans CJK TC"/>
                <a:ea typeface="Noto Sans CJK TC"/>
              </a:rPr>
              <a:t>新增條目未核實的價格留空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4855464"/>
            <a:ext cx="658368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5074920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>
                <a:solidFill>
                  <a:srgbClr val="183E35"/>
                </a:solidFill>
                <a:latin typeface="Liberation Serif"/>
                <a:ea typeface="Noto Sans CJK TC"/>
              </a:rPr>
              <a:t>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538581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3A32"/>
                </a:solidFill>
                <a:latin typeface="Noto Sans CJK TC"/>
                <a:ea typeface="Noto Sans CJK TC"/>
              </a:rPr>
              <a:t>現屆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5074920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>
                <a:solidFill>
                  <a:srgbClr val="183E35"/>
                </a:solidFill>
                <a:latin typeface="Liberation Serif"/>
                <a:ea typeface="Noto Sans CJK TC"/>
              </a:rPr>
              <a:t>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4487" y="538581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3A32"/>
                </a:solidFill>
                <a:latin typeface="Noto Sans CJK TC"/>
                <a:ea typeface="Noto Sans CJK TC"/>
              </a:rPr>
              <a:t>非現屆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5074920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0">
                <a:solidFill>
                  <a:srgbClr val="183E35"/>
                </a:solidFill>
                <a:latin typeface="Liberation Serif"/>
                <a:ea typeface="Noto Sans CJK T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538581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43A32"/>
                </a:solidFill>
                <a:latin typeface="Noto Sans CJK TC"/>
                <a:ea typeface="Noto Sans CJK TC"/>
              </a:rPr>
              <a:t>真相片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02  /  FOUR 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Find your food neighborhood.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四個指南分區；價格範圍只計原指南已有估算的條目。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台灣美食・雙北版 / 人均為原指南估算；歷史入選及照片不代表即時店況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58568"/>
            <a:ext cx="2633472" cy="3767328"/>
          </a:xfrm>
          <a:prstGeom prst="rect">
            <a:avLst/>
          </a:pr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0">
                <a:solidFill>
                  <a:srgbClr val="DE4932"/>
                </a:solidFill>
                <a:latin typeface="Liberation Serif"/>
                <a:ea typeface="Noto Sans CJK T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ARRIVAL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3E35"/>
                </a:solidFill>
                <a:latin typeface="Noto Sans CJK TC"/>
                <a:ea typeface="Noto Sans CJK TC"/>
              </a:rPr>
              <a:t>到埗美食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E4932"/>
                </a:solidFill>
                <a:latin typeface="Noto Sans CJK TC"/>
                <a:ea typeface="Noto Sans CJK TC"/>
              </a:rPr>
              <a:t>13 筆  /  NT$80–380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2744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桃園機場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台北車站沿線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落機唔使急，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先食一餐再安頓。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2258568"/>
            <a:ext cx="2633472" cy="3767328"/>
          </a:xfrm>
          <a:prstGeom prst="rect">
            <a:avLst/>
          </a:prstGeom>
          <a:solidFill>
            <a:srgbClr val="E3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423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0">
                <a:solidFill>
                  <a:srgbClr val="DE4932"/>
                </a:solidFill>
                <a:latin typeface="Liberation Serif"/>
                <a:ea typeface="Noto Sans CJK T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333756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YUANTONG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730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3E35"/>
                </a:solidFill>
                <a:latin typeface="Noto Sans CJK TC"/>
                <a:ea typeface="Noto Sans CJK TC"/>
              </a:rPr>
              <a:t>圓通宿舍美食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42336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E4932"/>
                </a:solidFill>
                <a:latin typeface="Noto Sans CJK TC"/>
                <a:ea typeface="Noto Sans CJK TC"/>
              </a:rPr>
              <a:t>41 筆  /  NT$40–320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472744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工專路 · 華新街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南勢角 · 興南夜市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5486400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早餐、便當、宵夜，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慢慢建立日常飯堂。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2258568"/>
            <a:ext cx="2633472" cy="3767328"/>
          </a:xfrm>
          <a:prstGeom prst="rect">
            <a:avLst/>
          </a:prstGeom>
          <a:solidFill>
            <a:srgbClr val="EB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423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0">
                <a:solidFill>
                  <a:srgbClr val="DE4932"/>
                </a:solidFill>
                <a:latin typeface="Liberation Serif"/>
                <a:ea typeface="Noto Sans CJK T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33756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GONGGUAN / NTU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730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3E35"/>
                </a:solidFill>
                <a:latin typeface="Noto Sans CJK TC"/>
                <a:ea typeface="Noto Sans CJK TC"/>
              </a:rPr>
              <a:t>台大美食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2336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E4932"/>
                </a:solidFill>
                <a:latin typeface="Noto Sans CJK TC"/>
                <a:ea typeface="Noto Sans CJK TC"/>
              </a:rPr>
              <a:t>22 筆  /  NT$50–400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472744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公館 · 溫州街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汀州路 · 台大校區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5486400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落堂搵飯食，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順便加杯嘢飲。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97696" y="2258568"/>
            <a:ext cx="2633472" cy="3767328"/>
          </a:xfrm>
          <a:prstGeom prst="rect">
            <a:avLst/>
          </a:prstGeom>
          <a:solidFill>
            <a:srgbClr val="E3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24231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0">
                <a:solidFill>
                  <a:srgbClr val="DE4932"/>
                </a:solidFill>
                <a:latin typeface="Liberation Serif"/>
                <a:ea typeface="Noto Sans CJK TC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333756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TAIPEI CLASSICS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37307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83E35"/>
                </a:solidFill>
                <a:latin typeface="Noto Sans CJK TC"/>
                <a:ea typeface="Noto Sans CJK TC"/>
              </a:rPr>
              <a:t>雙北其他美食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42336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E4932"/>
                </a:solidFill>
                <a:latin typeface="Noto Sans CJK TC"/>
                <a:ea typeface="Noto Sans CJK TC"/>
              </a:rPr>
              <a:t>118 筆  /  NT$60–600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472744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雙北必比登與其他條目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市區小吃與夜市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5486400"/>
            <a:ext cx="22860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留返一日，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食吓台北經典。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03  /  ARRIVAL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Land. Eat. Settle 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到埗先搞掂肚餓，唔使第一日就趕行程。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台灣美食・雙北版 / 人均為原指南估算；歷史入選及照片不代表即時店況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543800" y="2148840"/>
            <a:ext cx="4069080" cy="3364992"/>
          </a:xfrm>
          <a:prstGeom prst="rect">
            <a:avLst/>
          </a:prstGeom>
          <a:solidFill>
            <a:srgbClr val="183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651760"/>
            <a:ext cx="3337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5F1E8"/>
                </a:solidFill>
                <a:latin typeface="Noto Sans CJK TC"/>
                <a:ea typeface="Noto Sans CJK TC"/>
              </a:rPr>
              <a:t>先安頓，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5F1E8"/>
                </a:solidFill>
                <a:latin typeface="Noto Sans CJK TC"/>
                <a:ea typeface="Noto Sans CJK TC"/>
              </a:rPr>
              <a:t>再覓食。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46634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CE0D0"/>
                </a:solidFill>
                <a:latin typeface="Noto Sans CJK TC"/>
                <a:ea typeface="Noto Sans CJK TC"/>
              </a:rPr>
              <a:t>第一餐，唔使趕。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5623560"/>
            <a:ext cx="40690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7D59"/>
                </a:solidFill>
                <a:latin typeface="Noto Sans CJK TC"/>
                <a:ea typeface="Noto Sans CJK TC"/>
              </a:rPr>
              <a:t>機場分店不自動沿用品牌其他店的必比登獎項。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5925312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交通路線、票價與所需時間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請出發前查官方最新資訊。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685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DE4932"/>
                </a:solidFill>
                <a:latin typeface="Liberation Serif"/>
                <a:ea typeface="Noto Sans CJK T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313432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E35"/>
                </a:solidFill>
                <a:latin typeface="Noto Sans CJK TC"/>
                <a:ea typeface="Noto Sans CJK TC"/>
              </a:rPr>
              <a:t>落機後，按航廈揀一餐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16352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指南例子：小王煮瓜 桃園機場 T2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82111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77D59"/>
                </a:solidFill>
                <a:latin typeface="Noto Sans CJK TC"/>
                <a:ea typeface="Noto Sans CJK TC"/>
              </a:rPr>
              <a:t>滷肉飯／焢肉飯 · 人均估算 NT$120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7320" y="3493008"/>
            <a:ext cx="553212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3621024"/>
            <a:ext cx="685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DE4932"/>
                </a:solidFill>
                <a:latin typeface="Liberation Serif"/>
                <a:ea typeface="Noto Sans CJK T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21024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E35"/>
                </a:solidFill>
                <a:latin typeface="Noto Sans CJK TC"/>
                <a:ea typeface="Noto Sans CJK TC"/>
              </a:rPr>
              <a:t>如經台北車站，再補給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23944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指南例子：台鐵便當 台北車站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489704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77D59"/>
                </a:solidFill>
                <a:latin typeface="Noto Sans CJK TC"/>
                <a:ea typeface="Noto Sans CJK TC"/>
              </a:rPr>
              <a:t>排骨便當／雞腿便當 · 人均估算 NT$100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17320" y="4800600"/>
            <a:ext cx="553212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4928616"/>
            <a:ext cx="685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DE4932"/>
                </a:solidFill>
                <a:latin typeface="Liberation Serif"/>
                <a:ea typeface="Noto Sans CJK T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28616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E35"/>
                </a:solidFill>
                <a:latin typeface="Noto Sans CJK TC"/>
                <a:ea typeface="Noto Sans CJK TC"/>
              </a:rPr>
              <a:t>先安頓行李，再探索附近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431536"/>
            <a:ext cx="5760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圓通宿舍 → 工專路／華新街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797296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77D59"/>
                </a:solidFill>
                <a:latin typeface="Noto Sans CJK TC"/>
                <a:ea typeface="Noto Sans CJK TC"/>
              </a:rPr>
              <a:t>按精神同肚餓程度揀，唔一定每站都食。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04  /  YUANTONG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Your everyday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宿舍附近，由早餐食到宵夜。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台灣美食・雙北版 / 人均為原指南估算；歷史入選及照片不代表即時店況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57984"/>
            <a:ext cx="4251960" cy="3502152"/>
          </a:xfrm>
          <a:prstGeom prst="rect">
            <a:avLst/>
          </a:prstGeom>
          <a:solidFill>
            <a:srgbClr val="183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3520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5F1E8"/>
                </a:solidFill>
                <a:latin typeface="Noto Sans CJK TC"/>
                <a:ea typeface="Noto Sans CJK TC"/>
              </a:rPr>
              <a:t>巷口日常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DCE0D0"/>
                </a:solidFill>
                <a:latin typeface="Noto Sans CJK TC"/>
                <a:ea typeface="Noto Sans CJK TC"/>
              </a:rPr>
              <a:t>工專路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DCE0D0"/>
                </a:solidFill>
                <a:latin typeface="Noto Sans CJK TC"/>
                <a:ea typeface="Noto Sans CJK TC"/>
              </a:rPr>
              <a:t>華新街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DCE0D0"/>
                </a:solidFill>
                <a:latin typeface="Noto Sans CJK TC"/>
                <a:ea typeface="Noto Sans CJK TC"/>
              </a:rPr>
              <a:t>南勢角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7D59"/>
                </a:solidFill>
                <a:latin typeface="Noto Sans CJK TC"/>
                <a:ea typeface="Noto Sans CJK TC"/>
              </a:rPr>
              <a:t>未核實店家照片的條目，以純文字介紹。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DE4932"/>
                </a:solidFill>
                <a:latin typeface="Inter"/>
                <a:ea typeface="Noto Sans CJK TC"/>
              </a:rPr>
              <a:t>41 ENTRIES  /  NT$40–320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130552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早貓（早點）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4432" y="2148840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2523744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蛋餅做起點，留返午餐再慢慢揀。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2852928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工專路 20 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85232" y="3118104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85232" y="3172968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小舖媽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4432" y="3191256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3566160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小吃、義大利麵、自助餐，日常一餐。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895344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工專路 26 號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85232" y="4160520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85232" y="4215383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小檳城食堂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4432" y="4233671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NT$170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4608575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燒雞飯、炒粿條、叻沙，換吓南洋口味。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4937759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華新街 112 號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85232" y="5202936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85232" y="5257800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口碑鹹酥雞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4432" y="5276088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5650992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鹹酥雞、魷魚、雞皮，宵夜可以分享。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5980176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忠孝街 76 號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85232" y="6245352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05  /  GONGGUAN + NTU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Between classes, eat well.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公館搵嘢食，正餐、小食、甜品都留一格。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台灣美食・雙北版 / 人均為原指南估算；歷史入選及照片不代表即時店況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06</a:t>
            </a:r>
          </a:p>
        </p:txBody>
      </p:sp>
      <p:pic>
        <p:nvPicPr>
          <p:cNvPr id="8" name="Picture 7" descr="lan-jia.jpg"/>
          <p:cNvPicPr>
            <a:picLocks noChangeAspect="1"/>
          </p:cNvPicPr>
          <p:nvPr/>
        </p:nvPicPr>
        <p:blipFill>
          <a:blip r:embed="rId3"/>
          <a:srcRect l="4708" r="4708"/>
          <a:stretch>
            <a:fillRect/>
          </a:stretch>
        </p:blipFill>
        <p:spPr>
          <a:xfrm>
            <a:off x="548640" y="2148840"/>
            <a:ext cx="4251960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06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77D59"/>
                </a:solidFill>
                <a:latin typeface="Noto Sans CJK TC"/>
                <a:ea typeface="Noto Sans CJK TC"/>
              </a:rPr>
              <a:t>照片只屬藍家割包 · 2007 / 竹筍弟弟 · 自由使用授權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9904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DE4932"/>
                </a:solidFill>
                <a:latin typeface="Inter"/>
                <a:ea typeface="Noto Sans CJK TC"/>
              </a:rPr>
              <a:t>22 ENTRIES  /  NT$50–400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2130552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JODO 飯糰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4432" y="2148840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523744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飯糰、鮪魚飯糰，簡單開始一日。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2852928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汀州路三段 131 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85232" y="3118104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85232" y="3172968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藍家割包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4432" y="3191256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3566160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瘦肉割包、八寶麵，先揀一樣試吓。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3895344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羅斯福路三段 316 巷 8 弄 3 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85232" y="4160520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85232" y="4215383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池先生 Kopitiam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4432" y="4233671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NT$170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4608575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海南雞飯、叻沙，想食正餐就揀呢邊。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4937759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羅斯福路三段 284 巷 10 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85232" y="5202936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85232" y="5257800"/>
            <a:ext cx="4956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鴉片粉圓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4432" y="5276088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4932"/>
                </a:solidFill>
                <a:latin typeface="Inter"/>
                <a:ea typeface="Noto Sans CJK TC"/>
              </a:rPr>
              <a:t>NT$65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5650992"/>
            <a:ext cx="63276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3A32"/>
                </a:solidFill>
                <a:latin typeface="Noto Sans CJK TC"/>
                <a:ea typeface="Noto Sans CJK TC"/>
              </a:rPr>
              <a:t>粉圓冰、綜合冰，食完飯加個甜品。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5980176"/>
            <a:ext cx="6327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羅斯福路四段 52 巷 16 弄 4 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285232" y="6245352"/>
            <a:ext cx="6327648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06  /  THE BIB GOURMAND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Good food, with a paper trail.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雙北 55 家現屆入選，57 家曾入選但非現屆；每個年份都有來源。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台灣美食・雙北版 / 人均為原指南估算；歷史入選及照片不代表即時店況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07</a:t>
            </a:r>
          </a:p>
        </p:txBody>
      </p:sp>
      <p:pic>
        <p:nvPicPr>
          <p:cNvPr id="8" name="Picture 7" descr="fuhang.jpg"/>
          <p:cNvPicPr>
            <a:picLocks noChangeAspect="1"/>
          </p:cNvPicPr>
          <p:nvPr/>
        </p:nvPicPr>
        <p:blipFill>
          <a:blip r:embed="rId3"/>
          <a:srcRect t="9829" b="9829"/>
          <a:stretch>
            <a:fillRect/>
          </a:stretch>
        </p:blipFill>
        <p:spPr>
          <a:xfrm>
            <a:off x="548640" y="2148840"/>
            <a:ext cx="3566160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379976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2024 年照片 / Hauskyg YWICAORP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4573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DE4932"/>
                </a:solidFill>
                <a:latin typeface="Inter"/>
                <a:ea typeface="Noto Sans CJK TC"/>
              </a:rPr>
              <a:t>PAST BIB GOURMAND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83E35"/>
                </a:solidFill>
                <a:latin typeface="Noto Sans CJK TC"/>
                <a:ea typeface="Noto Sans CJK TC"/>
              </a:rPr>
              <a:t>阜杭豆漿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A32"/>
                </a:solidFill>
                <a:latin typeface="Noto Sans CJK TC"/>
                <a:ea typeface="Noto Sans CJK TC"/>
              </a:rPr>
              <a:t>已核實 5 個年份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A32"/>
                </a:solidFill>
                <a:latin typeface="Noto Sans CJK TC"/>
                <a:ea typeface="Noto Sans CJK TC"/>
              </a:rPr>
              <a:t>逐年來源與照片授權見本頁備註。</a:t>
            </a:r>
          </a:p>
        </p:txBody>
      </p:sp>
      <p:pic>
        <p:nvPicPr>
          <p:cNvPr id="13" name="Picture 12" descr="yongkang.jpg"/>
          <p:cNvPicPr>
            <a:picLocks noChangeAspect="1"/>
          </p:cNvPicPr>
          <p:nvPr/>
        </p:nvPicPr>
        <p:blipFill>
          <a:blip r:embed="rId4"/>
          <a:srcRect t="9829" b="9829"/>
          <a:stretch>
            <a:fillRect/>
          </a:stretch>
        </p:blipFill>
        <p:spPr>
          <a:xfrm>
            <a:off x="4297679" y="2148840"/>
            <a:ext cx="3566160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7679" y="4379976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2006 年照片 / Minghong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474573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DE4932"/>
                </a:solidFill>
                <a:latin typeface="Inter"/>
                <a:ea typeface="Noto Sans CJK TC"/>
              </a:rPr>
              <a:t>PAST BIB GOURMAND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51206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83E35"/>
                </a:solidFill>
                <a:latin typeface="Noto Sans CJK TC"/>
                <a:ea typeface="Noto Sans CJK TC"/>
              </a:rPr>
              <a:t>永康牛肉麵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5623560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A32"/>
                </a:solidFill>
                <a:latin typeface="Noto Sans CJK TC"/>
                <a:ea typeface="Noto Sans CJK TC"/>
              </a:rPr>
              <a:t>已核實 5 個年份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A32"/>
                </a:solidFill>
                <a:latin typeface="Noto Sans CJK TC"/>
                <a:ea typeface="Noto Sans CJK TC"/>
              </a:rPr>
              <a:t>逐年來源與照片授權見本頁備註。</a:t>
            </a:r>
          </a:p>
        </p:txBody>
      </p:sp>
      <p:pic>
        <p:nvPicPr>
          <p:cNvPr id="18" name="Picture 17" descr="lan-jia.jpg"/>
          <p:cNvPicPr>
            <a:picLocks noChangeAspect="1"/>
          </p:cNvPicPr>
          <p:nvPr/>
        </p:nvPicPr>
        <p:blipFill>
          <a:blip r:embed="rId5"/>
          <a:srcRect t="9829" b="9829"/>
          <a:stretch>
            <a:fillRect/>
          </a:stretch>
        </p:blipFill>
        <p:spPr>
          <a:xfrm>
            <a:off x="8046719" y="2148840"/>
            <a:ext cx="3566160" cy="2148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46719" y="4379976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2007 年照片 / 竹筍弟弟 / JeanHavoc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474573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DE4932"/>
                </a:solidFill>
                <a:latin typeface="Inter"/>
                <a:ea typeface="Noto Sans CJK TC"/>
              </a:rPr>
              <a:t>PAST BIB GOURMAND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51206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83E35"/>
                </a:solidFill>
                <a:latin typeface="Noto Sans CJK TC"/>
                <a:ea typeface="Noto Sans CJK TC"/>
              </a:rPr>
              <a:t>藍家割包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5623560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A32"/>
                </a:solidFill>
                <a:latin typeface="Noto Sans CJK TC"/>
                <a:ea typeface="Noto Sans CJK TC"/>
              </a:rPr>
              <a:t>已核實 3 個年份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43A32"/>
                </a:solidFill>
                <a:latin typeface="Noto Sans CJK TC"/>
                <a:ea typeface="Noto Sans CJK TC"/>
              </a:rPr>
              <a:t>逐年來源與照片授權見本頁備註。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B8C5B7"/>
                </a:solidFill>
                <a:latin typeface="Inter"/>
                <a:ea typeface="Noto Sans CJK TC"/>
              </a:rPr>
              <a:t>07  /  AN EDITORIAL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F5F1E8"/>
                </a:solidFill>
                <a:latin typeface="Liberation Serif"/>
                <a:ea typeface="Noto Sans CJK TC"/>
              </a:rPr>
              <a:t>One day. Four good pauses.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1E8"/>
                </a:solidFill>
                <a:latin typeface="Noto Sans CJK TC"/>
                <a:ea typeface="Noto Sans CJK TC"/>
              </a:rPr>
              <a:t>編輯提案：圓通 → 公館 → 圓通，唔係既定或已實測路線。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5270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8C5B7"/>
                </a:solidFill>
                <a:latin typeface="Noto Sans CJK TC"/>
                <a:ea typeface="Noto Sans CJK TC"/>
              </a:rPr>
              <a:t>台灣美食・雙北版 / 人均為原指南估算；歷史入選及照片不代表即時店況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C5B7"/>
                </a:solidFill>
                <a:latin typeface="Inter"/>
                <a:ea typeface="Noto Sans CJK TC"/>
              </a:rPr>
              <a:t>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743200"/>
            <a:ext cx="10561320" cy="0"/>
          </a:xfrm>
          <a:prstGeom prst="line">
            <a:avLst/>
          </a:prstGeom>
          <a:ln w="8890">
            <a:solidFill>
              <a:srgbClr val="6882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solidFill>
            <a:srgbClr val="DE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596896"/>
            <a:ext cx="2011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1E8"/>
                </a:solidFill>
                <a:latin typeface="Inter"/>
                <a:ea typeface="Noto Sans CJK T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C6CDBD"/>
                </a:solidFill>
                <a:latin typeface="Inter"/>
                <a:ea typeface="Noto Sans CJK TC"/>
              </a:rPr>
              <a:t>早餐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1E8"/>
                </a:solidFill>
                <a:latin typeface="Noto Sans CJK TC"/>
                <a:ea typeface="Noto Sans CJK TC"/>
              </a:rPr>
              <a:t>早貓（早點）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90288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6CDBD"/>
                </a:solidFill>
                <a:latin typeface="Noto Sans CJK TC"/>
                <a:ea typeface="Noto Sans CJK TC"/>
              </a:rPr>
              <a:t>蛋餅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0B39E"/>
                </a:solidFill>
                <a:latin typeface="Liberation Serif"/>
                <a:ea typeface="Noto Sans CJK TC"/>
              </a:rPr>
              <a:t>NT$60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2532888"/>
            <a:ext cx="457200" cy="457200"/>
          </a:xfrm>
          <a:prstGeom prst="rect">
            <a:avLst/>
          </a:prstGeom>
          <a:solidFill>
            <a:srgbClr val="DE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596896"/>
            <a:ext cx="2011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1E8"/>
                </a:solidFill>
                <a:latin typeface="Inter"/>
                <a:ea typeface="Noto Sans CJK T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29184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C6CDBD"/>
                </a:solidFill>
                <a:latin typeface="Inter"/>
                <a:ea typeface="Noto Sans CJK TC"/>
              </a:rPr>
              <a:t>午餐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37490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1E8"/>
                </a:solidFill>
                <a:latin typeface="Noto Sans CJK TC"/>
                <a:ea typeface="Noto Sans CJK TC"/>
              </a:rPr>
              <a:t>池先生 Kopitiam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4590288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6CDBD"/>
                </a:solidFill>
                <a:latin typeface="Noto Sans CJK TC"/>
                <a:ea typeface="Noto Sans CJK TC"/>
              </a:rPr>
              <a:t>海南雞飯／叻沙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5120640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0B39E"/>
                </a:solidFill>
                <a:latin typeface="Liberation Serif"/>
                <a:ea typeface="Noto Sans CJK TC"/>
              </a:rPr>
              <a:t>NT$170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2532888"/>
            <a:ext cx="457200" cy="457200"/>
          </a:xfrm>
          <a:prstGeom prst="rect">
            <a:avLst/>
          </a:prstGeom>
          <a:solidFill>
            <a:srgbClr val="DE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596896"/>
            <a:ext cx="2011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1E8"/>
                </a:solidFill>
                <a:latin typeface="Inter"/>
                <a:ea typeface="Noto Sans CJK T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329184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C6CDBD"/>
                </a:solidFill>
                <a:latin typeface="Inter"/>
                <a:ea typeface="Noto Sans CJK TC"/>
              </a:rPr>
              <a:t>午後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7490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1E8"/>
                </a:solidFill>
                <a:latin typeface="Noto Sans CJK TC"/>
                <a:ea typeface="Noto Sans CJK TC"/>
              </a:rPr>
              <a:t>鴉片粉圓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590288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6CDBD"/>
                </a:solidFill>
                <a:latin typeface="Noto Sans CJK TC"/>
                <a:ea typeface="Noto Sans CJK TC"/>
              </a:rPr>
              <a:t>粉圓冰／綜合冰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5120640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0B39E"/>
                </a:solidFill>
                <a:latin typeface="Liberation Serif"/>
                <a:ea typeface="Noto Sans CJK TC"/>
              </a:rPr>
              <a:t>NT$65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97696" y="2532888"/>
            <a:ext cx="457200" cy="457200"/>
          </a:xfrm>
          <a:prstGeom prst="rect">
            <a:avLst/>
          </a:prstGeom>
          <a:solidFill>
            <a:srgbClr val="DE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596896"/>
            <a:ext cx="20116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1E8"/>
                </a:solidFill>
                <a:latin typeface="Inter"/>
                <a:ea typeface="Noto Sans CJK T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7696" y="329184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C6CDBD"/>
                </a:solidFill>
                <a:latin typeface="Inter"/>
                <a:ea typeface="Noto Sans CJK TC"/>
              </a:rPr>
              <a:t>夜晚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7696" y="3749039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1E8"/>
                </a:solidFill>
                <a:latin typeface="Noto Sans CJK TC"/>
                <a:ea typeface="Noto Sans CJK TC"/>
              </a:rPr>
              <a:t>口碑鹹酥雞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7696" y="4590288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6CDBD"/>
                </a:solidFill>
                <a:latin typeface="Noto Sans CJK TC"/>
                <a:ea typeface="Noto Sans CJK TC"/>
              </a:rPr>
              <a:t>鹹酥雞，按食量加減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6" y="5120640"/>
            <a:ext cx="2651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>
                <a:solidFill>
                  <a:srgbClr val="F0B39E"/>
                </a:solidFill>
                <a:latin typeface="Liberation Serif"/>
                <a:ea typeface="Noto Sans CJK TC"/>
              </a:rPr>
              <a:t>NT$85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852160"/>
            <a:ext cx="11064240" cy="384048"/>
          </a:xfrm>
          <a:prstGeom prst="rect">
            <a:avLst/>
          </a:prstGeom>
          <a:solidFill>
            <a:srgbClr val="294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10698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5F1E8"/>
                </a:solidFill>
                <a:latin typeface="Noto Sans CJK TC"/>
                <a:ea typeface="Noto Sans CJK TC"/>
              </a:rPr>
              <a:t>四站人均估算合計約 NT$380；不含交通、加點。先核對休息日，再決定行唔行。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08  /  USE THE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Less scrolling. More eating.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先縮細清單，再打開地圖確認；唔好淨係睇個「營業中」。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台灣美食・雙北版 / 人均為原指南估算；歷史入選及照片不代表即時店況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4828032" cy="3995928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A SIMPLE WAY TO CHOOSE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907792"/>
            <a:ext cx="4279392" cy="502920"/>
          </a:xfrm>
          <a:prstGeom prst="roundRect">
            <a:avLst>
              <a:gd name="adj" fmla="val 8000"/>
            </a:avLst>
          </a:prstGeom>
          <a:solidFill>
            <a:srgbClr val="183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0083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1E8"/>
                </a:solidFill>
                <a:latin typeface="Noto Sans CJK TC"/>
                <a:ea typeface="Noto Sans CJK TC"/>
              </a:rPr>
              <a:t>歷屆必比登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602736"/>
            <a:ext cx="4279392" cy="502920"/>
          </a:xfrm>
          <a:prstGeom prst="roundRect">
            <a:avLst>
              <a:gd name="adj" fmla="val 8000"/>
            </a:avLst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703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E35"/>
                </a:solidFill>
                <a:latin typeface="Noto Sans CJK TC"/>
                <a:ea typeface="Noto Sans CJK TC"/>
              </a:rPr>
              <a:t>新北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4297680"/>
            <a:ext cx="4279392" cy="502920"/>
          </a:xfrm>
          <a:prstGeom prst="roundRect">
            <a:avLst>
              <a:gd name="adj" fmla="val 8000"/>
            </a:avLst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39826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E35"/>
                </a:solidFill>
                <a:latin typeface="Noto Sans CJK TC"/>
                <a:ea typeface="Noto Sans CJK TC"/>
              </a:rPr>
              <a:t>入選年份與來源 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175504"/>
            <a:ext cx="42976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77D59"/>
                </a:solidFill>
                <a:latin typeface="Noto Sans CJK TC"/>
                <a:ea typeface="Noto Sans CJK TC"/>
              </a:rPr>
              <a:t>介面流程示意 · 先縮細清單再揀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541264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3E35"/>
                </a:solidFill>
                <a:latin typeface="Noto Sans CJK TC"/>
                <a:ea typeface="Noto Sans CJK TC"/>
              </a:rPr>
              <a:t>資料未定 ≠ 一定休息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3E35"/>
                </a:solidFill>
                <a:latin typeface="Noto Sans CJK TC"/>
                <a:ea typeface="Noto Sans CJK TC"/>
              </a:rPr>
              <a:t>有結果 ≠ 保證今日有開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276856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01  歷屆 × 現屆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734056"/>
            <a:ext cx="571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必比登、城市、生活圈與種類可交叉篩選。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33872" y="3099816"/>
            <a:ext cx="571500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33872" y="3236976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02  年份 × 來源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3694176"/>
            <a:ext cx="571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每個入選年份有出處；不把品牌獎項套給分店。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33872" y="4059936"/>
            <a:ext cx="571500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33872" y="4197096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03  依家營業緊？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3872" y="4654296"/>
            <a:ext cx="571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按資料內時間推算，非店家即時回報；出門再確認。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33872" y="5020056"/>
            <a:ext cx="571500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33872" y="5157216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04  生活圈地圖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3872" y="5614416"/>
            <a:ext cx="571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點選聚落睇推介，再確認實際位置與交通。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777D59"/>
                </a:solidFill>
                <a:latin typeface="Inter"/>
                <a:ea typeface="Noto Sans CJK TC"/>
              </a:rPr>
              <a:t>09  /  BEFORE YOU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83E35"/>
                </a:solidFill>
                <a:latin typeface="Liberation Serif"/>
                <a:ea typeface="Noto Sans CJK TC"/>
              </a:rPr>
              <a:t>Eat curious. Check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49047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A32"/>
                </a:solidFill>
                <a:latin typeface="Noto Sans CJK TC"/>
                <a:ea typeface="Noto Sans CJK TC"/>
              </a:rPr>
              <a:t>食之前做少少功課，食嘅時候就慢慢享受。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51052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77D59"/>
                </a:solidFill>
                <a:latin typeface="Noto Sans CJK TC"/>
                <a:ea typeface="Noto Sans CJK TC"/>
              </a:rPr>
              <a:t>台灣美食・雙北版 / 人均為原指南估算；歷史入選及照片不代表即時店況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77D59"/>
                </a:solidFill>
                <a:latin typeface="Inter"/>
                <a:ea typeface="Noto Sans CJK TC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21992"/>
            <a:ext cx="4050791" cy="3931920"/>
          </a:xfrm>
          <a:prstGeom prst="rect">
            <a:avLst/>
          </a:prstGeom>
          <a:solidFill>
            <a:srgbClr val="183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3520440" cy="143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5F1E8"/>
                </a:solidFill>
                <a:latin typeface="Noto Sans CJK TC"/>
                <a:ea typeface="Noto Sans CJK TC"/>
              </a:rPr>
              <a:t>一份指南，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5F1E8"/>
                </a:solidFill>
                <a:latin typeface="Noto Sans CJK TC"/>
                <a:ea typeface="Noto Sans CJK TC"/>
              </a:rPr>
              <a:t>唔係保證。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73168"/>
            <a:ext cx="333756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D7DECE"/>
                </a:solidFill>
                <a:latin typeface="Noto Sans CJK TC"/>
                <a:ea typeface="Noto Sans CJK TC"/>
              </a:rPr>
              <a:t>留返肚餓，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D7DECE"/>
                </a:solidFill>
                <a:latin typeface="Noto Sans CJK TC"/>
                <a:ea typeface="Noto Sans CJK TC"/>
              </a:rPr>
              <a:t>畀下一條街。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2221992"/>
            <a:ext cx="6355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出發前再確認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2651760"/>
            <a:ext cx="635508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地址、休息日、供應狀況同價錢，以店家最新公告為準。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16" y="3191256"/>
            <a:ext cx="6355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推薦指數要識睇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3621024"/>
            <a:ext cx="635508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屬指南主觀參考，唔係即時 Google 評分或品質保證。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160520"/>
            <a:ext cx="6355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E35"/>
                </a:solidFill>
                <a:latin typeface="Noto Sans CJK TC"/>
                <a:ea typeface="Noto Sans CJK TC"/>
              </a:rPr>
              <a:t>照片要對得上店家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90288"/>
            <a:ext cx="635508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3A32"/>
                </a:solidFill>
                <a:latin typeface="Noto Sans CJK TC"/>
                <a:ea typeface="Noto Sans CJK TC"/>
              </a:rPr>
              <a:t>只用有店家身分證據及授權的照片；其餘保留文字。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57216" y="5202936"/>
            <a:ext cx="6355080" cy="0"/>
          </a:xfrm>
          <a:prstGeom prst="line">
            <a:avLst/>
          </a:prstGeom>
          <a:ln w="8890">
            <a:solidFill>
              <a:srgbClr val="D8D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57216" y="5440680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60">
                <a:solidFill>
                  <a:srgbClr val="DE4932"/>
                </a:solidFill>
                <a:latin typeface="Inter"/>
                <a:ea typeface="Noto Sans CJK TC"/>
              </a:rPr>
              <a:t>SOURCE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5751576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77D59"/>
                </a:solidFill>
                <a:latin typeface="Noto Sans CJK TC"/>
                <a:ea typeface="Noto Sans CJK TC"/>
              </a:rPr>
              <a:t>原指南88筆 + 雙北必比登核實資料。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77D59"/>
                </a:solidFill>
                <a:latin typeface="Noto Sans CJK TC"/>
                <a:ea typeface="Noto Sans CJK TC"/>
              </a:rPr>
              <a:t>歷屆年份來自米其林年度名單及具日期的完整報導。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77D59"/>
                </a:solidFill>
                <a:latin typeface="Noto Sans CJK TC"/>
                <a:ea typeface="Noto Sans CJK TC"/>
              </a:rPr>
              <a:t>相片署名、拍攝年份、授權與原始網址均列於各頁備註。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Taiwan Gourmet / 台灣美食</dc:title>
  <dc:subject>An editorial food field guide for the Yuantong and NTU neighborhoods</dc:subject>
  <dc:creator>Taiwan Gourmet</dc:creator>
  <cp:keywords>Taipei, 台灣美食, Traditional Chinese, editable, guide estimates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